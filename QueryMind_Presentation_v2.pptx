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TITLE (30 seconds)</a:t>
            </a:r>
          </a:p>
          <a:p/>
          <a:p>
            <a:r>
              <a:t>"Hi, I'm Vijay Mamilla — Associate Director and AI/ML Engineering Lead at SS&amp;C Technologies.</a:t>
            </a:r>
          </a:p>
          <a:p/>
          <a:p>
            <a:r>
              <a:t>This is QueryMind AI — my capstone project for the Codebasics AI Engineering Bootcamp.</a:t>
            </a:r>
          </a:p>
          <a:p/>
          <a:p>
            <a:r>
              <a:t>QueryMind is a Text-to-SQL Analytics Engine. It converts plain English questions into SQL queries and runs them against a real PostgreSQL database — no SQL knowledge needed.</a:t>
            </a:r>
          </a:p>
          <a:p/>
          <a:p>
            <a:r>
              <a:t>Let me walk you through what I built, why I built it, and show you a live demo."</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PROBLEM STATEMENT (45 seconds)</a:t>
            </a:r>
          </a:p>
          <a:p/>
          <a:p>
            <a:r>
              <a:t>"The problem I'm solving is real and common.</a:t>
            </a:r>
          </a:p>
          <a:p/>
          <a:p>
            <a:r>
              <a:t>Business analysts need data insights — but they can't write SQL. That creates a bottleneck where data teams spend half their time answering ad-hoc query requests instead of doing real analysis.</a:t>
            </a:r>
          </a:p>
          <a:p/>
          <a:p>
            <a:r>
              <a:t>Traditional BI tools like Tableau require pre-built dashboards — they're not flexible for open-ended questions. And existing natural language interfaces lack guardrails — you can't just let users run arbitrary SQL against production data without any controls.</a:t>
            </a:r>
          </a:p>
          <a:p/>
          <a:p>
            <a:r>
              <a:t>QueryMind solves all of this:</a:t>
            </a:r>
          </a:p>
          <a:p>
            <a:r>
              <a:t>- Type a plain English question and get results in about 3 seconds</a:t>
            </a:r>
          </a:p>
          <a:p>
            <a:r>
              <a:t>- Runtime guardrails prevent dangerous operations like DELETE</a:t>
            </a:r>
          </a:p>
          <a:p>
            <a:r>
              <a:t>- Every query is fully logged with the generated SQL and latency</a:t>
            </a:r>
          </a:p>
          <a:p>
            <a:r>
              <a:t>- Everything is configurable through an admin UI — no code changes needed</a:t>
            </a:r>
          </a:p>
          <a:p>
            <a:r>
              <a:t>- If the SQL fails, it automatically retries with the error fed back to the LLM"</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ARCHITECTURE (2 minutes)</a:t>
            </a:r>
          </a:p>
          <a:p/>
          <a:p>
            <a:r>
              <a:t>"The core of QueryMind is a 7-stage modular pipeline. Let me walk through each stage.</a:t>
            </a:r>
          </a:p>
          <a:p/>
          <a:p>
            <a:r>
              <a:t>Stage 1 — Classifier: Detects the intent of the question. Is it a simple SELECT, an aggregate with GROUP BY, a multi-table JOIN, a temporal query, or something that should be blocked entirely?</a:t>
            </a:r>
          </a:p>
          <a:p/>
          <a:p>
            <a:r>
              <a:t>Stage 2 — Schema Linker: Maps the entities mentioned in the question to real table and column names in the PostgreSQL database. So 'revenue' maps to 'total_amount', 'customer name' maps to 'first_name + last_name'.</a:t>
            </a:r>
          </a:p>
          <a:p/>
          <a:p>
            <a:r>
              <a:t>Stage 3 — Retriever: This is the RAG component. It embeds the question using OpenAI text-embedding-3-small and searches Qdrant for the top 4 most semantically similar past Q→SQL examples. These become the few-shot context for the LLM.</a:t>
            </a:r>
          </a:p>
          <a:p/>
          <a:p>
            <a:r>
              <a:t>Stage 4 — Generator: Builds a structured prompt with the schema, the retrieved examples, and the user's question, then calls GPT-4o to generate SQL.</a:t>
            </a:r>
          </a:p>
          <a:p/>
          <a:p>
            <a:r>
              <a:t>Stage 5 — Validator: Checks the SQL using the sqlglot AST parser for syntax errors, validates table and column names against the live schema, and enforces the guardrail rules — SELECT allowed, DELETE blocked.</a:t>
            </a:r>
          </a:p>
          <a:p/>
          <a:p>
            <a:r>
              <a:t>Stage 6 — Executor: Runs the SQL safely against PostgreSQL. If it fails, the error message is automatically injected back into GPT-4o for one retry. I call this self-healing SQL.</a:t>
            </a:r>
          </a:p>
          <a:p/>
          <a:p>
            <a:r>
              <a:t>Stage 7 — Formatter: Returns the results as a structured JSON table with column names, row count, and a natural language summary.</a:t>
            </a:r>
          </a:p>
          <a:p/>
          <a:p>
            <a:r>
              <a:t>Each stage is an independent Python module — you can swap any one without touching the others."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KEY FEATURES (1 minute)</a:t>
            </a:r>
          </a:p>
          <a:p/>
          <a:p>
            <a:r>
              <a:t>"Six features make QueryMind production-ready rather than just a demo.</a:t>
            </a:r>
          </a:p>
          <a:p/>
          <a:p>
            <a:r>
              <a:t>Few-Shot RAG — instead of fine-tuning, I retrieve semantically similar past examples at query time. 30 curated examples across 4 query types are stored in Qdrant and retrieved by cosine similarity. This dramatically improves SQL accuracy.</a:t>
            </a:r>
          </a:p>
          <a:p/>
          <a:p>
            <a:r>
              <a:t>Runtime Guardrails — each SQL operation type can be toggled on or off through the Admin UI. The max rows limit caps results at 500 by default. These are enforced at the validator stage — they cannot be bypassed by clever phrasing.</a:t>
            </a:r>
          </a:p>
          <a:p/>
          <a:p>
            <a:r>
              <a:t>Self-Healing SQL — if the generated SQL fails on execution, the error is automatically fed back to GPT-4o for one retry. This handles most real-world failures like column name mismatches silently.</a:t>
            </a:r>
          </a:p>
          <a:p/>
          <a:p>
            <a:r>
              <a:t>Full Audit Logging — every single query is recorded. You can see exactly what SQL was generated, whether it succeeded or was blocked, how many rows were returned, and how long it took.</a:t>
            </a:r>
          </a:p>
          <a:p/>
          <a:p>
            <a:r>
              <a:t>Document Ingestion — you can upload schema documentation as PDF or DOCX. Docling parses it and indexes it into Qdrant so the LLM has richer context when generating SQL.</a:t>
            </a:r>
          </a:p>
          <a:p/>
          <a:p>
            <a:r>
              <a:t>Runtime Config — switch the LLM model, dialect, or temperature through the Admin UI. No server restart needed."</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ADMIN PANEL (1 minute)</a:t>
            </a:r>
          </a:p>
          <a:p/>
          <a:p>
            <a:r>
              <a:t>"The admin panel has five management screens, all built in React with Next.js 14 and Tailwind CSS.</a:t>
            </a:r>
          </a:p>
          <a:p/>
          <a:p>
            <a:r>
              <a:t>Schema Manager — shows the live database schema pulled directly from PostgreSQL. You can add descriptions and synonyms to columns, which helps the LLM understand domain-specific terminology. For example, tagging 'total_amount' with the synonym 'revenue' means users can ask 'What is total revenue?' and the LLM correctly maps it.</a:t>
            </a:r>
          </a:p>
          <a:p/>
          <a:p>
            <a:r>
              <a:t>Examples Manager — this is where you manage the few-shot Q→SQL pairs. You can add, edit, or delete examples, and trigger a full re-sync to Qdrant. I've pre-seeded 30 examples.</a:t>
            </a:r>
          </a:p>
          <a:p/>
          <a:p>
            <a:r>
              <a:t>Query Logs — a full audit trail of every query. You can expand any row to see the exact SQL that was generated, filter by success, error, or blocked status, and see the latency.</a:t>
            </a:r>
          </a:p>
          <a:p/>
          <a:p>
            <a:r>
              <a:t>Guardrails Config — the control panel for SQL permissions. Toggle operations on or off in real time. The changes are immediate — no restart needed.</a:t>
            </a:r>
          </a:p>
          <a:p/>
          <a:p>
            <a:r>
              <a:t>Model Config — switch between GPT-4o and GPT-4o-mini, change the dialect, adjust temperature. All runtime, all through the UI."</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EVALUATION RESULTS (45 seconds)</a:t>
            </a:r>
          </a:p>
          <a:p/>
          <a:p>
            <a:r>
              <a:t>"I built a formal evaluation harness with 25 ground-truth question-to-SQL pairs covering all four query types — simple selects, aggregates, joins, and temporal queries.</a:t>
            </a:r>
          </a:p>
          <a:p/>
          <a:p>
            <a:r>
              <a:t>The headline result is 100% execution accuracy — every single query ran successfully and returned correct data.</a:t>
            </a:r>
          </a:p>
          <a:p/>
          <a:p>
            <a:r>
              <a:t>The exact match rate is 8% — and this is expected, not a failure. The pipeline automatically appends LIMIT 500 to every query as a guardrail. That differs from the bare ground-truth SQL, so it doesn't count as an exact match. But the actual SQL logic is correct.</a:t>
            </a:r>
          </a:p>
          <a:p/>
          <a:p>
            <a:r>
              <a:t>Breaking it down by query type — all four categories achieved 100% execution accuracy. Simple, aggregate, join, and temporal — all working perfectly.</a:t>
            </a:r>
          </a:p>
          <a:p/>
          <a:p>
            <a:r>
              <a:t>The evaluation harness is at eval/run_eval.py in the repo and can be re-run against any live backend instance at any time."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LIVE DEMO QUERIES (1 minute reference card)</a:t>
            </a:r>
          </a:p>
          <a:p/>
          <a:p>
            <a:r>
              <a:t>"Now let me show the live system. I have the Query UI open at localhost:3000.</a:t>
            </a:r>
          </a:p>
          <a:p/>
          <a:p>
            <a:r>
              <a:t>I'll start with two simple queries — pending orders and out-of-stock products — to show basic filtering working correctly.</a:t>
            </a:r>
          </a:p>
          <a:p/>
          <a:p>
            <a:r>
              <a:t>Then three aggregate queries — customer count, total revenue, and orders by status. Watch how the LLM generates GROUP BY and SUM correctly based on the few-shot examples.</a:t>
            </a:r>
          </a:p>
          <a:p/>
          <a:p>
            <a:r>
              <a:t>Then three JOIN queries. The top 5 customers query is particularly impressive — it involves a JOIN, GROUP BY, ORDER BY, and LIMIT all generated correctly in one shot.</a:t>
            </a:r>
          </a:p>
          <a:p/>
          <a:p>
            <a:r>
              <a:t>And finally two temporal queries using INTERVAL and EXTRACT — these are the hardest for LLMs to get right without good examples.</a:t>
            </a:r>
          </a:p>
          <a:p/>
          <a:p>
            <a:r>
              <a:t>For each result, notice three things:</a:t>
            </a:r>
          </a:p>
          <a:p>
            <a:r>
              <a:t>1. The generated SQL shown in the response</a:t>
            </a:r>
          </a:p>
          <a:p>
            <a:r>
              <a:t>2. The result table with real data from the database</a:t>
            </a:r>
          </a:p>
          <a:p>
            <a:r>
              <a:t>3. The natural language summary explaining the result</a:t>
            </a:r>
          </a:p>
          <a:p/>
          <a:p>
            <a:r>
              <a:t>Then I'll demo the guardrail — I'll type 'Delete all customers' and show it getting blocked immediately."</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SUMMARY &amp; CLOSING (30 seconds)</a:t>
            </a:r>
          </a:p>
          <a:p/>
          <a:p>
            <a:r>
              <a:t>"To summarize what QueryMind delivers:</a:t>
            </a:r>
          </a:p>
          <a:p/>
          <a:p>
            <a:r>
              <a:t>A complete 7-stage Text-to-SQL pipeline with self-healing. Qdrant-powered RAG with 30 curated few-shot examples. Runtime guardrails that actually block dangerous operations at the validator layer. Full audit logging of every query. A React admin panel with five management screens. 100% execution accuracy on a formal 25-query evaluation. And Docling document ingestion for schema-aware SQL generation.</a:t>
            </a:r>
          </a:p>
          <a:p/>
          <a:p>
            <a:r>
              <a:t>The full source code is on GitHub at github.com/vijaymamilla/querymind. The demo video is at youtu.be/L4pgpwKwABo.</a:t>
            </a:r>
          </a:p>
          <a:p/>
          <a:p>
            <a:r>
              <a:t>Thank you for your time. I'm happy to answer any questions about the architecture, the pipeline design decisions, or the evaluation methodology."</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457200"/>
          </a:xfrm>
          <a:prstGeom prst="rect">
            <a:avLst/>
          </a:prstGeom>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0"/>
            <a:ext cx="12188952" cy="457200"/>
          </a:xfrm>
          <a:prstGeom prst="rect">
            <a:avLst/>
          </a:prstGeom>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71600"/>
            <a:ext cx="10058400" cy="1188720"/>
          </a:xfrm>
          <a:prstGeom prst="rect">
            <a:avLst/>
          </a:prstGeom>
          <a:noFill/>
        </p:spPr>
        <p:txBody>
          <a:bodyPr wrap="square">
            <a:spAutoFit/>
          </a:bodyPr>
          <a:lstStyle/>
          <a:p>
            <a:pPr algn="ctr"/>
            <a:r>
              <a:rPr sz="5400" b="1" i="0">
                <a:solidFill>
                  <a:srgbClr val="FFFFFF"/>
                </a:solidFill>
              </a:rPr>
              <a:t>QueryMind AI</a:t>
            </a:r>
          </a:p>
        </p:txBody>
      </p:sp>
      <p:sp>
        <p:nvSpPr>
          <p:cNvPr id="5" name="TextBox 4"/>
          <p:cNvSpPr txBox="1"/>
          <p:nvPr/>
        </p:nvSpPr>
        <p:spPr>
          <a:xfrm>
            <a:off x="914400" y="2606040"/>
            <a:ext cx="10058400" cy="594360"/>
          </a:xfrm>
          <a:prstGeom prst="rect">
            <a:avLst/>
          </a:prstGeom>
          <a:noFill/>
        </p:spPr>
        <p:txBody>
          <a:bodyPr wrap="square">
            <a:spAutoFit/>
          </a:bodyPr>
          <a:lstStyle/>
          <a:p>
            <a:pPr algn="ctr"/>
            <a:r>
              <a:rPr sz="2600" b="1" i="0">
                <a:solidFill>
                  <a:srgbClr val="0EA5E9"/>
                </a:solidFill>
              </a:rPr>
              <a:t>Text-to-SQL Analytics Engine</a:t>
            </a:r>
          </a:p>
        </p:txBody>
      </p:sp>
      <p:sp>
        <p:nvSpPr>
          <p:cNvPr id="6" name="TextBox 5"/>
          <p:cNvSpPr txBox="1"/>
          <p:nvPr/>
        </p:nvSpPr>
        <p:spPr>
          <a:xfrm>
            <a:off x="914400" y="3291840"/>
            <a:ext cx="10058400" cy="411480"/>
          </a:xfrm>
          <a:prstGeom prst="rect">
            <a:avLst/>
          </a:prstGeom>
          <a:noFill/>
        </p:spPr>
        <p:txBody>
          <a:bodyPr wrap="square">
            <a:spAutoFit/>
          </a:bodyPr>
          <a:lstStyle/>
          <a:p>
            <a:pPr algn="ctr"/>
            <a:r>
              <a:rPr sz="1400" b="0" i="0">
                <a:solidFill>
                  <a:srgbClr val="94A3B8"/>
                </a:solidFill>
              </a:rPr>
              <a:t>Codebasics AI Engineering Bootcamp  •  Assignment 3  •  Capstone Project</a:t>
            </a:r>
          </a:p>
        </p:txBody>
      </p:sp>
      <p:sp>
        <p:nvSpPr>
          <p:cNvPr id="7" name="Rectangle 6"/>
          <p:cNvSpPr/>
          <p:nvPr/>
        </p:nvSpPr>
        <p:spPr>
          <a:xfrm>
            <a:off x="3200400" y="3931920"/>
            <a:ext cx="5788152" cy="18288"/>
          </a:xfrm>
          <a:prstGeom prst="rect">
            <a:avLst/>
          </a:prstGeom>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114800"/>
            <a:ext cx="10058400" cy="365760"/>
          </a:xfrm>
          <a:prstGeom prst="rect">
            <a:avLst/>
          </a:prstGeom>
          <a:noFill/>
        </p:spPr>
        <p:txBody>
          <a:bodyPr wrap="square">
            <a:spAutoFit/>
          </a:bodyPr>
          <a:lstStyle/>
          <a:p>
            <a:pPr algn="ctr"/>
            <a:r>
              <a:rPr sz="1500" b="1" i="0">
                <a:solidFill>
                  <a:srgbClr val="FFFFFF"/>
                </a:solidFill>
              </a:rPr>
              <a:t>Vijay Mamilla</a:t>
            </a:r>
          </a:p>
        </p:txBody>
      </p:sp>
      <p:sp>
        <p:nvSpPr>
          <p:cNvPr id="9" name="TextBox 8"/>
          <p:cNvSpPr txBox="1"/>
          <p:nvPr/>
        </p:nvSpPr>
        <p:spPr>
          <a:xfrm>
            <a:off x="914400" y="4480560"/>
            <a:ext cx="10058400" cy="365760"/>
          </a:xfrm>
          <a:prstGeom prst="rect">
            <a:avLst/>
          </a:prstGeom>
          <a:noFill/>
        </p:spPr>
        <p:txBody>
          <a:bodyPr wrap="square">
            <a:spAutoFit/>
          </a:bodyPr>
          <a:lstStyle/>
          <a:p>
            <a:pPr algn="ctr"/>
            <a:r>
              <a:rPr sz="1300" b="0" i="0">
                <a:solidFill>
                  <a:srgbClr val="94A3B8"/>
                </a:solidFill>
              </a:rPr>
              <a:t>Associate Director | AI/ML Engineering Lead | SS&amp;C Technologies</a:t>
            </a:r>
          </a:p>
        </p:txBody>
      </p:sp>
      <p:sp>
        <p:nvSpPr>
          <p:cNvPr id="10" name="TextBox 9"/>
          <p:cNvSpPr txBox="1"/>
          <p:nvPr/>
        </p:nvSpPr>
        <p:spPr>
          <a:xfrm>
            <a:off x="914400" y="4937760"/>
            <a:ext cx="10058400" cy="365760"/>
          </a:xfrm>
          <a:prstGeom prst="rect">
            <a:avLst/>
          </a:prstGeom>
          <a:noFill/>
        </p:spPr>
        <p:txBody>
          <a:bodyPr wrap="square">
            <a:spAutoFit/>
          </a:bodyPr>
          <a:lstStyle/>
          <a:p>
            <a:pPr algn="ctr"/>
            <a:r>
              <a:rPr sz="1300" b="0" i="0">
                <a:solidFill>
                  <a:srgbClr val="0EA5E9"/>
                </a:solidFill>
              </a:rPr>
              <a:t>github.com/vijaymamilla/querymind  •  youtu.be/L4pgpwKwABo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457200"/>
            <a:ext cx="12188952" cy="54864"/>
          </a:xfrm>
          <a:prstGeom prst="rect">
            <a:avLst/>
          </a:prstGeom>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94360"/>
            <a:ext cx="10972800" cy="685800"/>
          </a:xfrm>
          <a:prstGeom prst="rect">
            <a:avLst/>
          </a:prstGeom>
          <a:noFill/>
        </p:spPr>
        <p:txBody>
          <a:bodyPr wrap="square">
            <a:spAutoFit/>
          </a:bodyPr>
          <a:lstStyle/>
          <a:p>
            <a:pPr algn="l"/>
            <a:r>
              <a:rPr sz="3000" b="1" i="0">
                <a:solidFill>
                  <a:srgbClr val="FFFFFF"/>
                </a:solidFill>
              </a:rPr>
              <a:t>Problem Statement</a:t>
            </a:r>
          </a:p>
        </p:txBody>
      </p:sp>
      <p:sp>
        <p:nvSpPr>
          <p:cNvPr id="4" name="TextBox 3"/>
          <p:cNvSpPr txBox="1"/>
          <p:nvPr/>
        </p:nvSpPr>
        <p:spPr>
          <a:xfrm>
            <a:off x="457200" y="1234440"/>
            <a:ext cx="10972800" cy="365760"/>
          </a:xfrm>
          <a:prstGeom prst="rect">
            <a:avLst/>
          </a:prstGeom>
          <a:noFill/>
        </p:spPr>
        <p:txBody>
          <a:bodyPr wrap="square">
            <a:spAutoFit/>
          </a:bodyPr>
          <a:lstStyle/>
          <a:p>
            <a:pPr algn="l"/>
            <a:r>
              <a:rPr sz="1400" b="0" i="1">
                <a:solidFill>
                  <a:srgbClr val="94A3B8"/>
                </a:solidFill>
              </a:rPr>
              <a:t>Why does QueryMind exist?</a:t>
            </a:r>
          </a:p>
        </p:txBody>
      </p:sp>
      <p:sp>
        <p:nvSpPr>
          <p:cNvPr id="5" name="Rectangle 4"/>
          <p:cNvSpPr/>
          <p:nvPr/>
        </p:nvSpPr>
        <p:spPr>
          <a:xfrm>
            <a:off x="365760" y="1691640"/>
            <a:ext cx="5394960" cy="4663440"/>
          </a:xfrm>
          <a:prstGeom prst="rect">
            <a:avLst/>
          </a:prstGeom>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4846320" cy="411480"/>
          </a:xfrm>
          <a:prstGeom prst="rect">
            <a:avLst/>
          </a:prstGeom>
          <a:noFill/>
        </p:spPr>
        <p:txBody>
          <a:bodyPr wrap="square">
            <a:spAutoFit/>
          </a:bodyPr>
          <a:lstStyle/>
          <a:p>
            <a:pPr algn="l"/>
            <a:r>
              <a:rPr sz="1600" b="1" i="0">
                <a:solidFill>
                  <a:srgbClr val="F87171"/>
                </a:solidFill>
              </a:rPr>
              <a:t>The Problem</a:t>
            </a:r>
          </a:p>
        </p:txBody>
      </p:sp>
      <p:sp>
        <p:nvSpPr>
          <p:cNvPr id="7" name="TextBox 6"/>
          <p:cNvSpPr txBox="1"/>
          <p:nvPr/>
        </p:nvSpPr>
        <p:spPr>
          <a:xfrm>
            <a:off x="640080" y="2240280"/>
            <a:ext cx="4846320" cy="3840480"/>
          </a:xfrm>
          <a:prstGeom prst="rect">
            <a:avLst/>
          </a:prstGeom>
          <a:noFill/>
        </p:spPr>
        <p:txBody>
          <a:bodyPr wrap="square">
            <a:spAutoFit/>
          </a:bodyPr>
          <a:lstStyle/>
          <a:p>
            <a:pPr>
              <a:spcBef>
                <a:spcPts val="600"/>
              </a:spcBef>
            </a:pPr>
            <a:r>
              <a:rPr sz="1400">
                <a:solidFill>
                  <a:srgbClr val="F8D7DA"/>
                </a:solidFill>
              </a:rPr>
              <a:t>✗  Business analysts need data but can't write SQL</a:t>
            </a:r>
          </a:p>
          <a:p>
            <a:pPr>
              <a:spcBef>
                <a:spcPts val="600"/>
              </a:spcBef>
            </a:pPr>
            <a:r>
              <a:rPr sz="1400">
                <a:solidFill>
                  <a:srgbClr val="F8D7DA"/>
                </a:solidFill>
              </a:rPr>
              <a:t>✗  Data teams bottlenecked by ad-hoc query requests</a:t>
            </a:r>
          </a:p>
          <a:p>
            <a:pPr>
              <a:spcBef>
                <a:spcPts val="600"/>
              </a:spcBef>
            </a:pPr>
            <a:r>
              <a:rPr sz="1400">
                <a:solidFill>
                  <a:srgbClr val="F8D7DA"/>
                </a:solidFill>
              </a:rPr>
              <a:t>✗  BI tools need pre-built dashboards — no flexibility</a:t>
            </a:r>
          </a:p>
          <a:p>
            <a:pPr>
              <a:spcBef>
                <a:spcPts val="600"/>
              </a:spcBef>
            </a:pPr>
            <a:r>
              <a:rPr sz="1400">
                <a:solidFill>
                  <a:srgbClr val="F8D7DA"/>
                </a:solidFill>
              </a:rPr>
              <a:t>✗  Existing NL interfaces lack guardrails &amp; auditability</a:t>
            </a:r>
          </a:p>
          <a:p>
            <a:pPr>
              <a:spcBef>
                <a:spcPts val="600"/>
              </a:spcBef>
            </a:pPr>
            <a:r>
              <a:rPr sz="1400">
                <a:solidFill>
                  <a:srgbClr val="F8D7DA"/>
                </a:solidFill>
              </a:rPr>
              <a:t>✗  No visibility into what SQL was generated or why</a:t>
            </a:r>
          </a:p>
        </p:txBody>
      </p:sp>
      <p:sp>
        <p:nvSpPr>
          <p:cNvPr id="8" name="Rectangle 7"/>
          <p:cNvSpPr/>
          <p:nvPr/>
        </p:nvSpPr>
        <p:spPr>
          <a:xfrm>
            <a:off x="6309360" y="1691640"/>
            <a:ext cx="5394960" cy="4663440"/>
          </a:xfrm>
          <a:prstGeom prst="rect">
            <a:avLst/>
          </a:prstGeom>
          <a:solidFill>
            <a:srgbClr val="0C2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783080"/>
            <a:ext cx="4846320" cy="411480"/>
          </a:xfrm>
          <a:prstGeom prst="rect">
            <a:avLst/>
          </a:prstGeom>
          <a:noFill/>
        </p:spPr>
        <p:txBody>
          <a:bodyPr wrap="square">
            <a:spAutoFit/>
          </a:bodyPr>
          <a:lstStyle/>
          <a:p>
            <a:pPr algn="l"/>
            <a:r>
              <a:rPr sz="1600" b="1" i="0">
                <a:solidFill>
                  <a:srgbClr val="22C55E"/>
                </a:solidFill>
              </a:rPr>
              <a:t>QueryMind Solves It</a:t>
            </a:r>
          </a:p>
        </p:txBody>
      </p:sp>
      <p:sp>
        <p:nvSpPr>
          <p:cNvPr id="10" name="TextBox 9"/>
          <p:cNvSpPr txBox="1"/>
          <p:nvPr/>
        </p:nvSpPr>
        <p:spPr>
          <a:xfrm>
            <a:off x="6583680" y="2240280"/>
            <a:ext cx="4846320" cy="3840480"/>
          </a:xfrm>
          <a:prstGeom prst="rect">
            <a:avLst/>
          </a:prstGeom>
          <a:noFill/>
        </p:spPr>
        <p:txBody>
          <a:bodyPr wrap="square">
            <a:spAutoFit/>
          </a:bodyPr>
          <a:lstStyle/>
          <a:p>
            <a:pPr>
              <a:spcBef>
                <a:spcPts val="600"/>
              </a:spcBef>
            </a:pPr>
            <a:r>
              <a:rPr sz="1400">
                <a:solidFill>
                  <a:srgbClr val="D1FAE5"/>
                </a:solidFill>
              </a:rPr>
              <a:t>✓  Type plain English → get SQL + results in ~3 seconds</a:t>
            </a:r>
          </a:p>
          <a:p>
            <a:pPr>
              <a:spcBef>
                <a:spcPts val="600"/>
              </a:spcBef>
            </a:pPr>
            <a:r>
              <a:rPr sz="1400">
                <a:solidFill>
                  <a:srgbClr val="D1FAE5"/>
                </a:solidFill>
              </a:rPr>
              <a:t>✓  Runtime guardrails block dangerous operations (DELETE)</a:t>
            </a:r>
          </a:p>
          <a:p>
            <a:pPr>
              <a:spcBef>
                <a:spcPts val="600"/>
              </a:spcBef>
            </a:pPr>
            <a:r>
              <a:rPr sz="1400">
                <a:solidFill>
                  <a:srgbClr val="D1FAE5"/>
                </a:solidFill>
              </a:rPr>
              <a:t>✓  Every query logged with SQL, status, and latency</a:t>
            </a:r>
          </a:p>
          <a:p>
            <a:pPr>
              <a:spcBef>
                <a:spcPts val="600"/>
              </a:spcBef>
            </a:pPr>
            <a:r>
              <a:rPr sz="1400">
                <a:solidFill>
                  <a:srgbClr val="D1FAE5"/>
                </a:solidFill>
              </a:rPr>
              <a:t>✓  Admin panel to tune behavior without touching code</a:t>
            </a:r>
          </a:p>
          <a:p>
            <a:pPr>
              <a:spcBef>
                <a:spcPts val="600"/>
              </a:spcBef>
            </a:pPr>
            <a:r>
              <a:rPr sz="1400">
                <a:solidFill>
                  <a:srgbClr val="D1FAE5"/>
                </a:solidFill>
              </a:rPr>
              <a:t>✓  Self-healing SQL retries automatically on error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457200"/>
            <a:ext cx="12188952" cy="54864"/>
          </a:xfrm>
          <a:prstGeom prst="rect">
            <a:avLst/>
          </a:prstGeom>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94360"/>
            <a:ext cx="10972800" cy="685800"/>
          </a:xfrm>
          <a:prstGeom prst="rect">
            <a:avLst/>
          </a:prstGeom>
          <a:noFill/>
        </p:spPr>
        <p:txBody>
          <a:bodyPr wrap="square">
            <a:spAutoFit/>
          </a:bodyPr>
          <a:lstStyle/>
          <a:p>
            <a:pPr algn="l"/>
            <a:r>
              <a:rPr sz="3000" b="1" i="0">
                <a:solidFill>
                  <a:srgbClr val="FFFFFF"/>
                </a:solidFill>
              </a:rPr>
              <a:t>Architecture — 7-Stage Modular Pipeline</a:t>
            </a:r>
          </a:p>
        </p:txBody>
      </p:sp>
      <p:sp>
        <p:nvSpPr>
          <p:cNvPr id="4" name="TextBox 3"/>
          <p:cNvSpPr txBox="1"/>
          <p:nvPr/>
        </p:nvSpPr>
        <p:spPr>
          <a:xfrm>
            <a:off x="457200" y="1234440"/>
            <a:ext cx="10972800" cy="365760"/>
          </a:xfrm>
          <a:prstGeom prst="rect">
            <a:avLst/>
          </a:prstGeom>
          <a:noFill/>
        </p:spPr>
        <p:txBody>
          <a:bodyPr wrap="square">
            <a:spAutoFit/>
          </a:bodyPr>
          <a:lstStyle/>
          <a:p>
            <a:pPr algn="l"/>
            <a:r>
              <a:rPr sz="1400" b="0" i="1">
                <a:solidFill>
                  <a:srgbClr val="94A3B8"/>
                </a:solidFill>
              </a:rPr>
              <a:t>Natural language → validated SQL → formatted results</a:t>
            </a:r>
          </a:p>
        </p:txBody>
      </p:sp>
      <p:pic>
        <p:nvPicPr>
          <p:cNvPr id="5" name="Picture 4" descr="QueryMind_Architecture.png"/>
          <p:cNvPicPr>
            <a:picLocks noChangeAspect="1"/>
          </p:cNvPicPr>
          <p:nvPr/>
        </p:nvPicPr>
        <p:blipFill>
          <a:blip r:embed="rId2"/>
          <a:stretch>
            <a:fillRect/>
          </a:stretch>
        </p:blipFill>
        <p:spPr>
          <a:xfrm>
            <a:off x="274320" y="1463040"/>
            <a:ext cx="11640312" cy="52120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457200"/>
            <a:ext cx="12188952" cy="54864"/>
          </a:xfrm>
          <a:prstGeom prst="rect">
            <a:avLst/>
          </a:prstGeom>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94360"/>
            <a:ext cx="10972800" cy="685800"/>
          </a:xfrm>
          <a:prstGeom prst="rect">
            <a:avLst/>
          </a:prstGeom>
          <a:noFill/>
        </p:spPr>
        <p:txBody>
          <a:bodyPr wrap="square">
            <a:spAutoFit/>
          </a:bodyPr>
          <a:lstStyle/>
          <a:p>
            <a:pPr algn="l"/>
            <a:r>
              <a:rPr sz="3000" b="1" i="0">
                <a:solidFill>
                  <a:srgbClr val="FFFFFF"/>
                </a:solidFill>
              </a:rPr>
              <a:t>Key Features</a:t>
            </a:r>
          </a:p>
        </p:txBody>
      </p:sp>
      <p:sp>
        <p:nvSpPr>
          <p:cNvPr id="4" name="TextBox 3"/>
          <p:cNvSpPr txBox="1"/>
          <p:nvPr/>
        </p:nvSpPr>
        <p:spPr>
          <a:xfrm>
            <a:off x="457200" y="1234440"/>
            <a:ext cx="10972800" cy="365760"/>
          </a:xfrm>
          <a:prstGeom prst="rect">
            <a:avLst/>
          </a:prstGeom>
          <a:noFill/>
        </p:spPr>
        <p:txBody>
          <a:bodyPr wrap="square">
            <a:spAutoFit/>
          </a:bodyPr>
          <a:lstStyle/>
          <a:p>
            <a:pPr algn="l"/>
            <a:r>
              <a:rPr sz="1400" b="0" i="1">
                <a:solidFill>
                  <a:srgbClr val="94A3B8"/>
                </a:solidFill>
              </a:rPr>
              <a:t>What makes QueryMind production-ready</a:t>
            </a:r>
          </a:p>
        </p:txBody>
      </p:sp>
      <p:sp>
        <p:nvSpPr>
          <p:cNvPr id="5" name="Rectangle 4"/>
          <p:cNvSpPr/>
          <p:nvPr/>
        </p:nvSpPr>
        <p:spPr>
          <a:xfrm>
            <a:off x="365760" y="1783080"/>
            <a:ext cx="5669280" cy="1463040"/>
          </a:xfrm>
          <a:prstGeom prst="rect">
            <a:avLst/>
          </a:prstGeom>
          <a:solidFill>
            <a:srgbClr val="0D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783080"/>
            <a:ext cx="91440" cy="1463040"/>
          </a:xfrm>
          <a:prstGeom prst="rect">
            <a:avLst/>
          </a:prstGeom>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874519"/>
            <a:ext cx="5303520" cy="411480"/>
          </a:xfrm>
          <a:prstGeom prst="rect">
            <a:avLst/>
          </a:prstGeom>
          <a:noFill/>
        </p:spPr>
        <p:txBody>
          <a:bodyPr wrap="square">
            <a:spAutoFit/>
          </a:bodyPr>
          <a:lstStyle/>
          <a:p>
            <a:pPr algn="l"/>
            <a:r>
              <a:rPr sz="1500" b="1" i="0">
                <a:solidFill>
                  <a:srgbClr val="0EA5E9"/>
                </a:solidFill>
              </a:rPr>
              <a:t>Few-Shot RAG</a:t>
            </a:r>
          </a:p>
        </p:txBody>
      </p:sp>
      <p:sp>
        <p:nvSpPr>
          <p:cNvPr id="8" name="TextBox 7"/>
          <p:cNvSpPr txBox="1"/>
          <p:nvPr/>
        </p:nvSpPr>
        <p:spPr>
          <a:xfrm>
            <a:off x="594360" y="2286000"/>
            <a:ext cx="5212080" cy="868680"/>
          </a:xfrm>
          <a:prstGeom prst="rect">
            <a:avLst/>
          </a:prstGeom>
          <a:noFill/>
        </p:spPr>
        <p:txBody>
          <a:bodyPr wrap="square">
            <a:spAutoFit/>
          </a:bodyPr>
          <a:lstStyle/>
          <a:p>
            <a:pPr algn="l"/>
            <a:r>
              <a:rPr sz="1100" b="0" i="0">
                <a:solidFill>
                  <a:srgbClr val="94A3B8"/>
                </a:solidFill>
              </a:rPr>
              <a:t>Top-4 semantically similar Q→SQL examples retrieved from Qdrant at query time. 30 curated examples covering 4 query types. Uses OpenAI text-embedding-3-small (1536-dim).</a:t>
            </a:r>
          </a:p>
        </p:txBody>
      </p:sp>
      <p:sp>
        <p:nvSpPr>
          <p:cNvPr id="9" name="Rectangle 8"/>
          <p:cNvSpPr/>
          <p:nvPr/>
        </p:nvSpPr>
        <p:spPr>
          <a:xfrm>
            <a:off x="6309360" y="1783080"/>
            <a:ext cx="5669280" cy="1463040"/>
          </a:xfrm>
          <a:prstGeom prst="rect">
            <a:avLst/>
          </a:prstGeom>
          <a:solidFill>
            <a:srgbClr val="0D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783080"/>
            <a:ext cx="91440" cy="1463040"/>
          </a:xfrm>
          <a:prstGeom prst="rect">
            <a:avLst/>
          </a:prstGeom>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874519"/>
            <a:ext cx="5303520" cy="411480"/>
          </a:xfrm>
          <a:prstGeom prst="rect">
            <a:avLst/>
          </a:prstGeom>
          <a:noFill/>
        </p:spPr>
        <p:txBody>
          <a:bodyPr wrap="square">
            <a:spAutoFit/>
          </a:bodyPr>
          <a:lstStyle/>
          <a:p>
            <a:pPr algn="l"/>
            <a:r>
              <a:rPr sz="1500" b="1" i="0">
                <a:solidFill>
                  <a:srgbClr val="22C55E"/>
                </a:solidFill>
              </a:rPr>
              <a:t>Runtime Guardrails</a:t>
            </a:r>
          </a:p>
        </p:txBody>
      </p:sp>
      <p:sp>
        <p:nvSpPr>
          <p:cNvPr id="12" name="TextBox 11"/>
          <p:cNvSpPr txBox="1"/>
          <p:nvPr/>
        </p:nvSpPr>
        <p:spPr>
          <a:xfrm>
            <a:off x="6537960" y="2286000"/>
            <a:ext cx="5212080" cy="868680"/>
          </a:xfrm>
          <a:prstGeom prst="rect">
            <a:avLst/>
          </a:prstGeom>
          <a:noFill/>
        </p:spPr>
        <p:txBody>
          <a:bodyPr wrap="square">
            <a:spAutoFit/>
          </a:bodyPr>
          <a:lstStyle/>
          <a:p>
            <a:pPr algn="l"/>
            <a:r>
              <a:rPr sz="1100" b="0" i="0">
                <a:solidFill>
                  <a:srgbClr val="94A3B8"/>
                </a:solidFill>
              </a:rPr>
              <a:t>Toggle SELECT / INSERT / UPDATE / DELETE on or off at runtime. Max-rows limit (default 500). Enforced at the validator layer — never bypassed by clever prompts.</a:t>
            </a:r>
          </a:p>
        </p:txBody>
      </p:sp>
      <p:sp>
        <p:nvSpPr>
          <p:cNvPr id="13" name="Rectangle 12"/>
          <p:cNvSpPr/>
          <p:nvPr/>
        </p:nvSpPr>
        <p:spPr>
          <a:xfrm>
            <a:off x="365760" y="3383280"/>
            <a:ext cx="5669280" cy="1463040"/>
          </a:xfrm>
          <a:prstGeom prst="rect">
            <a:avLst/>
          </a:prstGeom>
          <a:solidFill>
            <a:srgbClr val="0D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3383280"/>
            <a:ext cx="91440" cy="1463040"/>
          </a:xfrm>
          <a:prstGeom prst="rect">
            <a:avLst/>
          </a:prstGeom>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474720"/>
            <a:ext cx="5303520" cy="411480"/>
          </a:xfrm>
          <a:prstGeom prst="rect">
            <a:avLst/>
          </a:prstGeom>
          <a:noFill/>
        </p:spPr>
        <p:txBody>
          <a:bodyPr wrap="square">
            <a:spAutoFit/>
          </a:bodyPr>
          <a:lstStyle/>
          <a:p>
            <a:pPr algn="l"/>
            <a:r>
              <a:rPr sz="1500" b="1" i="0">
                <a:solidFill>
                  <a:srgbClr val="EF4444"/>
                </a:solidFill>
              </a:rPr>
              <a:t>Self-Healing SQL</a:t>
            </a:r>
          </a:p>
        </p:txBody>
      </p:sp>
      <p:sp>
        <p:nvSpPr>
          <p:cNvPr id="16" name="TextBox 15"/>
          <p:cNvSpPr txBox="1"/>
          <p:nvPr/>
        </p:nvSpPr>
        <p:spPr>
          <a:xfrm>
            <a:off x="594360" y="3886200"/>
            <a:ext cx="5212080" cy="868680"/>
          </a:xfrm>
          <a:prstGeom prst="rect">
            <a:avLst/>
          </a:prstGeom>
          <a:noFill/>
        </p:spPr>
        <p:txBody>
          <a:bodyPr wrap="square">
            <a:spAutoFit/>
          </a:bodyPr>
          <a:lstStyle/>
          <a:p>
            <a:pPr algn="l"/>
            <a:r>
              <a:rPr sz="1100" b="0" i="0">
                <a:solidFill>
                  <a:srgbClr val="94A3B8"/>
                </a:solidFill>
              </a:rPr>
              <a:t>On execution failure, the SQL and error message are automatically injected back into GPT-4o for one retry. Handles column mismatches and minor syntax issues without user intervention.</a:t>
            </a:r>
          </a:p>
        </p:txBody>
      </p:sp>
      <p:sp>
        <p:nvSpPr>
          <p:cNvPr id="17" name="Rectangle 16"/>
          <p:cNvSpPr/>
          <p:nvPr/>
        </p:nvSpPr>
        <p:spPr>
          <a:xfrm>
            <a:off x="6309360" y="3383280"/>
            <a:ext cx="5669280" cy="1463040"/>
          </a:xfrm>
          <a:prstGeom prst="rect">
            <a:avLst/>
          </a:prstGeom>
          <a:solidFill>
            <a:srgbClr val="0D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60" y="3383280"/>
            <a:ext cx="91440" cy="1463040"/>
          </a:xfrm>
          <a:prstGeom prst="rect">
            <a:avLst/>
          </a:prstGeom>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37960" y="3474720"/>
            <a:ext cx="5303520" cy="411480"/>
          </a:xfrm>
          <a:prstGeom prst="rect">
            <a:avLst/>
          </a:prstGeom>
          <a:noFill/>
        </p:spPr>
        <p:txBody>
          <a:bodyPr wrap="square">
            <a:spAutoFit/>
          </a:bodyPr>
          <a:lstStyle/>
          <a:p>
            <a:pPr algn="l"/>
            <a:r>
              <a:rPr sz="1500" b="1" i="0">
                <a:solidFill>
                  <a:srgbClr val="F59E0B"/>
                </a:solidFill>
              </a:rPr>
              <a:t>Full Audit Logging</a:t>
            </a:r>
          </a:p>
        </p:txBody>
      </p:sp>
      <p:sp>
        <p:nvSpPr>
          <p:cNvPr id="20" name="TextBox 19"/>
          <p:cNvSpPr txBox="1"/>
          <p:nvPr/>
        </p:nvSpPr>
        <p:spPr>
          <a:xfrm>
            <a:off x="6537960" y="3886200"/>
            <a:ext cx="5212080" cy="868680"/>
          </a:xfrm>
          <a:prstGeom prst="rect">
            <a:avLst/>
          </a:prstGeom>
          <a:noFill/>
        </p:spPr>
        <p:txBody>
          <a:bodyPr wrap="square">
            <a:spAutoFit/>
          </a:bodyPr>
          <a:lstStyle/>
          <a:p>
            <a:pPr algn="l"/>
            <a:r>
              <a:rPr sz="1100" b="0" i="0">
                <a:solidFill>
                  <a:srgbClr val="94A3B8"/>
                </a:solidFill>
              </a:rPr>
              <a:t>Every query logged: NL question, generated SQL, status (success/error/blocked), row count, and latency in ms. Filterable and paginated in the Admin UI.</a:t>
            </a:r>
          </a:p>
        </p:txBody>
      </p:sp>
      <p:sp>
        <p:nvSpPr>
          <p:cNvPr id="21" name="Rectangle 20"/>
          <p:cNvSpPr/>
          <p:nvPr/>
        </p:nvSpPr>
        <p:spPr>
          <a:xfrm>
            <a:off x="365760" y="4983480"/>
            <a:ext cx="5669280" cy="1463040"/>
          </a:xfrm>
          <a:prstGeom prst="rect">
            <a:avLst/>
          </a:prstGeom>
          <a:solidFill>
            <a:srgbClr val="0D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4983480"/>
            <a:ext cx="91440" cy="1463040"/>
          </a:xfrm>
          <a:prstGeom prst="rect">
            <a:avLst/>
          </a:prstGeom>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5074920"/>
            <a:ext cx="5303520" cy="411480"/>
          </a:xfrm>
          <a:prstGeom prst="rect">
            <a:avLst/>
          </a:prstGeom>
          <a:noFill/>
        </p:spPr>
        <p:txBody>
          <a:bodyPr wrap="square">
            <a:spAutoFit/>
          </a:bodyPr>
          <a:lstStyle/>
          <a:p>
            <a:pPr algn="l"/>
            <a:r>
              <a:rPr sz="1500" b="1" i="0">
                <a:solidFill>
                  <a:srgbClr val="F97316"/>
                </a:solidFill>
              </a:rPr>
              <a:t>Document Ingestion</a:t>
            </a:r>
          </a:p>
        </p:txBody>
      </p:sp>
      <p:sp>
        <p:nvSpPr>
          <p:cNvPr id="24" name="TextBox 23"/>
          <p:cNvSpPr txBox="1"/>
          <p:nvPr/>
        </p:nvSpPr>
        <p:spPr>
          <a:xfrm>
            <a:off x="594360" y="5486400"/>
            <a:ext cx="5212080" cy="868680"/>
          </a:xfrm>
          <a:prstGeom prst="rect">
            <a:avLst/>
          </a:prstGeom>
          <a:noFill/>
        </p:spPr>
        <p:txBody>
          <a:bodyPr wrap="square">
            <a:spAutoFit/>
          </a:bodyPr>
          <a:lstStyle/>
          <a:p>
            <a:pPr algn="l"/>
            <a:r>
              <a:rPr sz="1100" b="0" i="0">
                <a:solidFill>
                  <a:srgbClr val="94A3B8"/>
                </a:solidFill>
              </a:rPr>
              <a:t>Upload PDF / DOCX / HTML schema documentation via Docling. Chunks are indexed into Qdrant schema_docs collection for context-aware SQL generation.</a:t>
            </a:r>
          </a:p>
        </p:txBody>
      </p:sp>
      <p:sp>
        <p:nvSpPr>
          <p:cNvPr id="25" name="Rectangle 24"/>
          <p:cNvSpPr/>
          <p:nvPr/>
        </p:nvSpPr>
        <p:spPr>
          <a:xfrm>
            <a:off x="6309360" y="4983480"/>
            <a:ext cx="5669280" cy="1463040"/>
          </a:xfrm>
          <a:prstGeom prst="rect">
            <a:avLst/>
          </a:prstGeom>
          <a:solidFill>
            <a:srgbClr val="0D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309360" y="4983480"/>
            <a:ext cx="91440" cy="1463040"/>
          </a:xfrm>
          <a:prstGeom prst="rect">
            <a:avLst/>
          </a:prstGeom>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37960" y="5074920"/>
            <a:ext cx="5303520" cy="411480"/>
          </a:xfrm>
          <a:prstGeom prst="rect">
            <a:avLst/>
          </a:prstGeom>
          <a:noFill/>
        </p:spPr>
        <p:txBody>
          <a:bodyPr wrap="square">
            <a:spAutoFit/>
          </a:bodyPr>
          <a:lstStyle/>
          <a:p>
            <a:pPr algn="l"/>
            <a:r>
              <a:rPr sz="1500" b="1" i="0">
                <a:solidFill>
                  <a:srgbClr val="8B5CF6"/>
                </a:solidFill>
              </a:rPr>
              <a:t>Runtime Model Config</a:t>
            </a:r>
          </a:p>
        </p:txBody>
      </p:sp>
      <p:sp>
        <p:nvSpPr>
          <p:cNvPr id="28" name="TextBox 27"/>
          <p:cNvSpPr txBox="1"/>
          <p:nvPr/>
        </p:nvSpPr>
        <p:spPr>
          <a:xfrm>
            <a:off x="6537960" y="5486400"/>
            <a:ext cx="5212080" cy="868680"/>
          </a:xfrm>
          <a:prstGeom prst="rect">
            <a:avLst/>
          </a:prstGeom>
          <a:noFill/>
        </p:spPr>
        <p:txBody>
          <a:bodyPr wrap="square">
            <a:spAutoFit/>
          </a:bodyPr>
          <a:lstStyle/>
          <a:p>
            <a:pPr algn="l"/>
            <a:r>
              <a:rPr sz="1100" b="0" i="0">
                <a:solidFill>
                  <a:srgbClr val="94A3B8"/>
                </a:solidFill>
              </a:rPr>
              <a:t>Switch between GPT-4o and GPT-4o-mini, change SQL dialect, adjust temperature — all through the Admin UI without restarting the server.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457200"/>
            <a:ext cx="12188952" cy="54864"/>
          </a:xfrm>
          <a:prstGeom prst="rect">
            <a:avLst/>
          </a:prstGeom>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94360"/>
            <a:ext cx="10972800" cy="685800"/>
          </a:xfrm>
          <a:prstGeom prst="rect">
            <a:avLst/>
          </a:prstGeom>
          <a:noFill/>
        </p:spPr>
        <p:txBody>
          <a:bodyPr wrap="square">
            <a:spAutoFit/>
          </a:bodyPr>
          <a:lstStyle/>
          <a:p>
            <a:pPr algn="l"/>
            <a:r>
              <a:rPr sz="3000" b="1" i="0">
                <a:solidFill>
                  <a:srgbClr val="FFFFFF"/>
                </a:solidFill>
              </a:rPr>
              <a:t>Admin Panel — 5 Management Screens</a:t>
            </a:r>
          </a:p>
        </p:txBody>
      </p:sp>
      <p:sp>
        <p:nvSpPr>
          <p:cNvPr id="4" name="TextBox 3"/>
          <p:cNvSpPr txBox="1"/>
          <p:nvPr/>
        </p:nvSpPr>
        <p:spPr>
          <a:xfrm>
            <a:off x="457200" y="1234440"/>
            <a:ext cx="10972800" cy="365760"/>
          </a:xfrm>
          <a:prstGeom prst="rect">
            <a:avLst/>
          </a:prstGeom>
          <a:noFill/>
        </p:spPr>
        <p:txBody>
          <a:bodyPr wrap="square">
            <a:spAutoFit/>
          </a:bodyPr>
          <a:lstStyle/>
          <a:p>
            <a:pPr algn="l"/>
            <a:r>
              <a:rPr sz="1400" b="0" i="1">
                <a:solidFill>
                  <a:srgbClr val="94A3B8"/>
                </a:solidFill>
              </a:rPr>
              <a:t>Full React UI  •  Next.js 14 + Tailwind CSS  •  No code changes needed</a:t>
            </a:r>
          </a:p>
        </p:txBody>
      </p:sp>
      <p:sp>
        <p:nvSpPr>
          <p:cNvPr id="5" name="Rectangle 4"/>
          <p:cNvSpPr/>
          <p:nvPr/>
        </p:nvSpPr>
        <p:spPr>
          <a:xfrm>
            <a:off x="320040" y="1783080"/>
            <a:ext cx="3749039" cy="2194560"/>
          </a:xfrm>
          <a:prstGeom prst="rect">
            <a:avLst/>
          </a:prstGeom>
          <a:solidFill>
            <a:srgbClr val="0D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783080"/>
            <a:ext cx="3749039" cy="438912"/>
          </a:xfrm>
          <a:prstGeom prst="rect">
            <a:avLst/>
          </a:prstGeom>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9768" y="1837943"/>
            <a:ext cx="3529584" cy="329184"/>
          </a:xfrm>
          <a:prstGeom prst="rect">
            <a:avLst/>
          </a:prstGeom>
          <a:noFill/>
        </p:spPr>
        <p:txBody>
          <a:bodyPr wrap="square">
            <a:spAutoFit/>
          </a:bodyPr>
          <a:lstStyle/>
          <a:p>
            <a:pPr algn="l"/>
            <a:r>
              <a:rPr sz="1300" b="1" i="0">
                <a:solidFill>
                  <a:srgbClr val="0F172A"/>
                </a:solidFill>
              </a:rPr>
              <a:t>Schema Manager</a:t>
            </a:r>
          </a:p>
        </p:txBody>
      </p:sp>
      <p:sp>
        <p:nvSpPr>
          <p:cNvPr id="8" name="TextBox 7"/>
          <p:cNvSpPr txBox="1"/>
          <p:nvPr/>
        </p:nvSpPr>
        <p:spPr>
          <a:xfrm>
            <a:off x="429768" y="2295144"/>
            <a:ext cx="3529584" cy="274320"/>
          </a:xfrm>
          <a:prstGeom prst="rect">
            <a:avLst/>
          </a:prstGeom>
          <a:noFill/>
        </p:spPr>
        <p:txBody>
          <a:bodyPr wrap="square">
            <a:spAutoFit/>
          </a:bodyPr>
          <a:lstStyle/>
          <a:p>
            <a:pPr algn="l"/>
            <a:r>
              <a:rPr sz="1000" b="0" i="1">
                <a:solidFill>
                  <a:srgbClr val="0EA5E9"/>
                </a:solidFill>
              </a:rPr>
              <a:t>/admin/schema</a:t>
            </a:r>
          </a:p>
        </p:txBody>
      </p:sp>
      <p:sp>
        <p:nvSpPr>
          <p:cNvPr id="9" name="TextBox 8"/>
          <p:cNvSpPr txBox="1"/>
          <p:nvPr/>
        </p:nvSpPr>
        <p:spPr>
          <a:xfrm>
            <a:off x="429768" y="2587752"/>
            <a:ext cx="3529584" cy="1280160"/>
          </a:xfrm>
          <a:prstGeom prst="rect">
            <a:avLst/>
          </a:prstGeom>
          <a:noFill/>
        </p:spPr>
        <p:txBody>
          <a:bodyPr wrap="square">
            <a:spAutoFit/>
          </a:bodyPr>
          <a:lstStyle/>
          <a:p>
            <a:pPr>
              <a:spcBef>
                <a:spcPts val="600"/>
              </a:spcBef>
            </a:pPr>
            <a:r>
              <a:rPr sz="1100">
                <a:solidFill>
                  <a:srgbClr val="94A3B8"/>
                </a:solidFill>
              </a:rPr>
              <a:t>• Browse all 7 live tables</a:t>
            </a:r>
          </a:p>
          <a:p>
            <a:pPr>
              <a:spcBef>
                <a:spcPts val="600"/>
              </a:spcBef>
            </a:pPr>
            <a:r>
              <a:rPr sz="1100">
                <a:solidFill>
                  <a:srgbClr val="94A3B8"/>
                </a:solidFill>
              </a:rPr>
              <a:t>• Add column descriptions &amp; synonyms</a:t>
            </a:r>
          </a:p>
          <a:p>
            <a:pPr>
              <a:spcBef>
                <a:spcPts val="600"/>
              </a:spcBef>
            </a:pPr>
            <a:r>
              <a:rPr sz="1100">
                <a:solidFill>
                  <a:srgbClr val="94A3B8"/>
                </a:solidFill>
              </a:rPr>
              <a:t>• Mark sensitive columns</a:t>
            </a:r>
          </a:p>
          <a:p>
            <a:pPr>
              <a:spcBef>
                <a:spcPts val="600"/>
              </a:spcBef>
            </a:pPr>
            <a:r>
              <a:rPr sz="1100">
                <a:solidFill>
                  <a:srgbClr val="94A3B8"/>
                </a:solidFill>
              </a:rPr>
              <a:t>• Refresh from DB anytime</a:t>
            </a:r>
          </a:p>
        </p:txBody>
      </p:sp>
      <p:sp>
        <p:nvSpPr>
          <p:cNvPr id="10" name="Rectangle 9"/>
          <p:cNvSpPr/>
          <p:nvPr/>
        </p:nvSpPr>
        <p:spPr>
          <a:xfrm>
            <a:off x="4297679" y="1783080"/>
            <a:ext cx="3749039" cy="2194560"/>
          </a:xfrm>
          <a:prstGeom prst="rect">
            <a:avLst/>
          </a:prstGeom>
          <a:solidFill>
            <a:srgbClr val="0D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7679" y="1783080"/>
            <a:ext cx="3749039" cy="438912"/>
          </a:xfrm>
          <a:prstGeom prst="rect">
            <a:avLst/>
          </a:prstGeom>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07407" y="1837943"/>
            <a:ext cx="3529584" cy="329184"/>
          </a:xfrm>
          <a:prstGeom prst="rect">
            <a:avLst/>
          </a:prstGeom>
          <a:noFill/>
        </p:spPr>
        <p:txBody>
          <a:bodyPr wrap="square">
            <a:spAutoFit/>
          </a:bodyPr>
          <a:lstStyle/>
          <a:p>
            <a:pPr algn="l"/>
            <a:r>
              <a:rPr sz="1300" b="1" i="0">
                <a:solidFill>
                  <a:srgbClr val="0F172A"/>
                </a:solidFill>
              </a:rPr>
              <a:t>Examples Manager</a:t>
            </a:r>
          </a:p>
        </p:txBody>
      </p:sp>
      <p:sp>
        <p:nvSpPr>
          <p:cNvPr id="13" name="TextBox 12"/>
          <p:cNvSpPr txBox="1"/>
          <p:nvPr/>
        </p:nvSpPr>
        <p:spPr>
          <a:xfrm>
            <a:off x="4407407" y="2295144"/>
            <a:ext cx="3529584" cy="274320"/>
          </a:xfrm>
          <a:prstGeom prst="rect">
            <a:avLst/>
          </a:prstGeom>
          <a:noFill/>
        </p:spPr>
        <p:txBody>
          <a:bodyPr wrap="square">
            <a:spAutoFit/>
          </a:bodyPr>
          <a:lstStyle/>
          <a:p>
            <a:pPr algn="l"/>
            <a:r>
              <a:rPr sz="1000" b="0" i="1">
                <a:solidFill>
                  <a:srgbClr val="F59E0B"/>
                </a:solidFill>
              </a:rPr>
              <a:t>/admin/examples</a:t>
            </a:r>
          </a:p>
        </p:txBody>
      </p:sp>
      <p:sp>
        <p:nvSpPr>
          <p:cNvPr id="14" name="TextBox 13"/>
          <p:cNvSpPr txBox="1"/>
          <p:nvPr/>
        </p:nvSpPr>
        <p:spPr>
          <a:xfrm>
            <a:off x="4407407" y="2587752"/>
            <a:ext cx="3529584" cy="1280160"/>
          </a:xfrm>
          <a:prstGeom prst="rect">
            <a:avLst/>
          </a:prstGeom>
          <a:noFill/>
        </p:spPr>
        <p:txBody>
          <a:bodyPr wrap="square">
            <a:spAutoFit/>
          </a:bodyPr>
          <a:lstStyle/>
          <a:p>
            <a:pPr>
              <a:spcBef>
                <a:spcPts val="600"/>
              </a:spcBef>
            </a:pPr>
            <a:r>
              <a:rPr sz="1100">
                <a:solidFill>
                  <a:srgbClr val="94A3B8"/>
                </a:solidFill>
              </a:rPr>
              <a:t>• Add / edit / delete Q→SQL pairs</a:t>
            </a:r>
          </a:p>
          <a:p>
            <a:pPr>
              <a:spcBef>
                <a:spcPts val="600"/>
              </a:spcBef>
            </a:pPr>
            <a:r>
              <a:rPr sz="1100">
                <a:solidFill>
                  <a:srgbClr val="94A3B8"/>
                </a:solidFill>
              </a:rPr>
              <a:t>• Filter by query type</a:t>
            </a:r>
          </a:p>
          <a:p>
            <a:pPr>
              <a:spcBef>
                <a:spcPts val="600"/>
              </a:spcBef>
            </a:pPr>
            <a:r>
              <a:rPr sz="1100">
                <a:solidFill>
                  <a:srgbClr val="94A3B8"/>
                </a:solidFill>
              </a:rPr>
              <a:t>• Sync all to Qdrant embeddings</a:t>
            </a:r>
          </a:p>
          <a:p>
            <a:pPr>
              <a:spcBef>
                <a:spcPts val="600"/>
              </a:spcBef>
            </a:pPr>
            <a:r>
              <a:rPr sz="1100">
                <a:solidFill>
                  <a:srgbClr val="94A3B8"/>
                </a:solidFill>
              </a:rPr>
              <a:t>• 30 examples pre-seeded</a:t>
            </a:r>
          </a:p>
        </p:txBody>
      </p:sp>
      <p:sp>
        <p:nvSpPr>
          <p:cNvPr id="15" name="Rectangle 14"/>
          <p:cNvSpPr/>
          <p:nvPr/>
        </p:nvSpPr>
        <p:spPr>
          <a:xfrm>
            <a:off x="8275319" y="1783080"/>
            <a:ext cx="3749039" cy="2194560"/>
          </a:xfrm>
          <a:prstGeom prst="rect">
            <a:avLst/>
          </a:prstGeom>
          <a:solidFill>
            <a:srgbClr val="0D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75319" y="1783080"/>
            <a:ext cx="3749039" cy="438912"/>
          </a:xfrm>
          <a:prstGeom prst="rect">
            <a:avLst/>
          </a:prstGeom>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85047" y="1837943"/>
            <a:ext cx="3529584" cy="329184"/>
          </a:xfrm>
          <a:prstGeom prst="rect">
            <a:avLst/>
          </a:prstGeom>
          <a:noFill/>
        </p:spPr>
        <p:txBody>
          <a:bodyPr wrap="square">
            <a:spAutoFit/>
          </a:bodyPr>
          <a:lstStyle/>
          <a:p>
            <a:pPr algn="l"/>
            <a:r>
              <a:rPr sz="1300" b="1" i="0">
                <a:solidFill>
                  <a:srgbClr val="0F172A"/>
                </a:solidFill>
              </a:rPr>
              <a:t>Query Logs</a:t>
            </a:r>
          </a:p>
        </p:txBody>
      </p:sp>
      <p:sp>
        <p:nvSpPr>
          <p:cNvPr id="18" name="TextBox 17"/>
          <p:cNvSpPr txBox="1"/>
          <p:nvPr/>
        </p:nvSpPr>
        <p:spPr>
          <a:xfrm>
            <a:off x="8385047" y="2295144"/>
            <a:ext cx="3529584" cy="274320"/>
          </a:xfrm>
          <a:prstGeom prst="rect">
            <a:avLst/>
          </a:prstGeom>
          <a:noFill/>
        </p:spPr>
        <p:txBody>
          <a:bodyPr wrap="square">
            <a:spAutoFit/>
          </a:bodyPr>
          <a:lstStyle/>
          <a:p>
            <a:pPr algn="l"/>
            <a:r>
              <a:rPr sz="1000" b="0" i="1">
                <a:solidFill>
                  <a:srgbClr val="22C55E"/>
                </a:solidFill>
              </a:rPr>
              <a:t>/admin/logs</a:t>
            </a:r>
          </a:p>
        </p:txBody>
      </p:sp>
      <p:sp>
        <p:nvSpPr>
          <p:cNvPr id="19" name="TextBox 18"/>
          <p:cNvSpPr txBox="1"/>
          <p:nvPr/>
        </p:nvSpPr>
        <p:spPr>
          <a:xfrm>
            <a:off x="8385047" y="2587752"/>
            <a:ext cx="3529584" cy="1280160"/>
          </a:xfrm>
          <a:prstGeom prst="rect">
            <a:avLst/>
          </a:prstGeom>
          <a:noFill/>
        </p:spPr>
        <p:txBody>
          <a:bodyPr wrap="square">
            <a:spAutoFit/>
          </a:bodyPr>
          <a:lstStyle/>
          <a:p>
            <a:pPr>
              <a:spcBef>
                <a:spcPts val="600"/>
              </a:spcBef>
            </a:pPr>
            <a:r>
              <a:rPr sz="1100">
                <a:solidFill>
                  <a:srgbClr val="94A3B8"/>
                </a:solidFill>
              </a:rPr>
              <a:t>• Full audit trail of every query</a:t>
            </a:r>
          </a:p>
          <a:p>
            <a:pPr>
              <a:spcBef>
                <a:spcPts val="600"/>
              </a:spcBef>
            </a:pPr>
            <a:r>
              <a:rPr sz="1100">
                <a:solidFill>
                  <a:srgbClr val="94A3B8"/>
                </a:solidFill>
              </a:rPr>
              <a:t>• Filter: Success / Error / Blocked</a:t>
            </a:r>
          </a:p>
          <a:p>
            <a:pPr>
              <a:spcBef>
                <a:spcPts val="600"/>
              </a:spcBef>
            </a:pPr>
            <a:r>
              <a:rPr sz="1100">
                <a:solidFill>
                  <a:srgbClr val="94A3B8"/>
                </a:solidFill>
              </a:rPr>
              <a:t>• Expand to see generated SQL</a:t>
            </a:r>
          </a:p>
          <a:p>
            <a:pPr>
              <a:spcBef>
                <a:spcPts val="600"/>
              </a:spcBef>
            </a:pPr>
            <a:r>
              <a:rPr sz="1100">
                <a:solidFill>
                  <a:srgbClr val="94A3B8"/>
                </a:solidFill>
              </a:rPr>
              <a:t>• Pagination — 20 per page</a:t>
            </a:r>
          </a:p>
        </p:txBody>
      </p:sp>
      <p:sp>
        <p:nvSpPr>
          <p:cNvPr id="20" name="Rectangle 19"/>
          <p:cNvSpPr/>
          <p:nvPr/>
        </p:nvSpPr>
        <p:spPr>
          <a:xfrm>
            <a:off x="320040" y="4160520"/>
            <a:ext cx="3749039" cy="2194560"/>
          </a:xfrm>
          <a:prstGeom prst="rect">
            <a:avLst/>
          </a:prstGeom>
          <a:solidFill>
            <a:srgbClr val="0D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20040" y="4160520"/>
            <a:ext cx="3749039" cy="438912"/>
          </a:xfrm>
          <a:prstGeom prst="rect">
            <a:avLst/>
          </a:prstGeom>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8" y="4215383"/>
            <a:ext cx="3529584" cy="329184"/>
          </a:xfrm>
          <a:prstGeom prst="rect">
            <a:avLst/>
          </a:prstGeom>
          <a:noFill/>
        </p:spPr>
        <p:txBody>
          <a:bodyPr wrap="square">
            <a:spAutoFit/>
          </a:bodyPr>
          <a:lstStyle/>
          <a:p>
            <a:pPr algn="l"/>
            <a:r>
              <a:rPr sz="1300" b="1" i="0">
                <a:solidFill>
                  <a:srgbClr val="0F172A"/>
                </a:solidFill>
              </a:rPr>
              <a:t>Guardrails Config</a:t>
            </a:r>
          </a:p>
        </p:txBody>
      </p:sp>
      <p:sp>
        <p:nvSpPr>
          <p:cNvPr id="23" name="TextBox 22"/>
          <p:cNvSpPr txBox="1"/>
          <p:nvPr/>
        </p:nvSpPr>
        <p:spPr>
          <a:xfrm>
            <a:off x="429768" y="4672583"/>
            <a:ext cx="3529584" cy="274320"/>
          </a:xfrm>
          <a:prstGeom prst="rect">
            <a:avLst/>
          </a:prstGeom>
          <a:noFill/>
        </p:spPr>
        <p:txBody>
          <a:bodyPr wrap="square">
            <a:spAutoFit/>
          </a:bodyPr>
          <a:lstStyle/>
          <a:p>
            <a:pPr algn="l"/>
            <a:r>
              <a:rPr sz="1000" b="0" i="1">
                <a:solidFill>
                  <a:srgbClr val="EF4444"/>
                </a:solidFill>
              </a:rPr>
              <a:t>/admin/guardrails</a:t>
            </a:r>
          </a:p>
        </p:txBody>
      </p:sp>
      <p:sp>
        <p:nvSpPr>
          <p:cNvPr id="24" name="TextBox 23"/>
          <p:cNvSpPr txBox="1"/>
          <p:nvPr/>
        </p:nvSpPr>
        <p:spPr>
          <a:xfrm>
            <a:off x="429768" y="4965192"/>
            <a:ext cx="3529584" cy="1280160"/>
          </a:xfrm>
          <a:prstGeom prst="rect">
            <a:avLst/>
          </a:prstGeom>
          <a:noFill/>
        </p:spPr>
        <p:txBody>
          <a:bodyPr wrap="square">
            <a:spAutoFit/>
          </a:bodyPr>
          <a:lstStyle/>
          <a:p>
            <a:pPr>
              <a:spcBef>
                <a:spcPts val="600"/>
              </a:spcBef>
            </a:pPr>
            <a:r>
              <a:rPr sz="1100">
                <a:solidFill>
                  <a:srgbClr val="94A3B8"/>
                </a:solidFill>
              </a:rPr>
              <a:t>• Toggle SELECT / INSERT / UPDATE / DELETE</a:t>
            </a:r>
          </a:p>
          <a:p>
            <a:pPr>
              <a:spcBef>
                <a:spcPts val="600"/>
              </a:spcBef>
            </a:pPr>
            <a:r>
              <a:rPr sz="1100">
                <a:solidFill>
                  <a:srgbClr val="94A3B8"/>
                </a:solidFill>
              </a:rPr>
              <a:t>• Set max_rows limit</a:t>
            </a:r>
          </a:p>
          <a:p>
            <a:pPr>
              <a:spcBef>
                <a:spcPts val="600"/>
              </a:spcBef>
            </a:pPr>
            <a:r>
              <a:rPr sz="1100">
                <a:solidFill>
                  <a:srgbClr val="94A3B8"/>
                </a:solidFill>
              </a:rPr>
              <a:t>• Changes take effect immediately</a:t>
            </a:r>
          </a:p>
          <a:p>
            <a:pPr>
              <a:spcBef>
                <a:spcPts val="600"/>
              </a:spcBef>
            </a:pPr>
            <a:r>
              <a:rPr sz="1100">
                <a:solidFill>
                  <a:srgbClr val="94A3B8"/>
                </a:solidFill>
              </a:rPr>
              <a:t>• Blocked queries auto-logged</a:t>
            </a:r>
          </a:p>
        </p:txBody>
      </p:sp>
      <p:sp>
        <p:nvSpPr>
          <p:cNvPr id="25" name="Rectangle 24"/>
          <p:cNvSpPr/>
          <p:nvPr/>
        </p:nvSpPr>
        <p:spPr>
          <a:xfrm>
            <a:off x="4297679" y="4160520"/>
            <a:ext cx="3749039" cy="2194560"/>
          </a:xfrm>
          <a:prstGeom prst="rect">
            <a:avLst/>
          </a:prstGeom>
          <a:solidFill>
            <a:srgbClr val="0D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97679" y="4160520"/>
            <a:ext cx="3749039" cy="438912"/>
          </a:xfrm>
          <a:prstGeom prst="rect">
            <a:avLst/>
          </a:prstGeom>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07407" y="4215383"/>
            <a:ext cx="3529584" cy="329184"/>
          </a:xfrm>
          <a:prstGeom prst="rect">
            <a:avLst/>
          </a:prstGeom>
          <a:noFill/>
        </p:spPr>
        <p:txBody>
          <a:bodyPr wrap="square">
            <a:spAutoFit/>
          </a:bodyPr>
          <a:lstStyle/>
          <a:p>
            <a:pPr algn="l"/>
            <a:r>
              <a:rPr sz="1300" b="1" i="0">
                <a:solidFill>
                  <a:srgbClr val="0F172A"/>
                </a:solidFill>
              </a:rPr>
              <a:t>Model Config</a:t>
            </a:r>
          </a:p>
        </p:txBody>
      </p:sp>
      <p:sp>
        <p:nvSpPr>
          <p:cNvPr id="28" name="TextBox 27"/>
          <p:cNvSpPr txBox="1"/>
          <p:nvPr/>
        </p:nvSpPr>
        <p:spPr>
          <a:xfrm>
            <a:off x="4407407" y="4672583"/>
            <a:ext cx="3529584" cy="274320"/>
          </a:xfrm>
          <a:prstGeom prst="rect">
            <a:avLst/>
          </a:prstGeom>
          <a:noFill/>
        </p:spPr>
        <p:txBody>
          <a:bodyPr wrap="square">
            <a:spAutoFit/>
          </a:bodyPr>
          <a:lstStyle/>
          <a:p>
            <a:pPr algn="l"/>
            <a:r>
              <a:rPr sz="1000" b="0" i="1">
                <a:solidFill>
                  <a:srgbClr val="8B5CF6"/>
                </a:solidFill>
              </a:rPr>
              <a:t>/admin/config</a:t>
            </a:r>
          </a:p>
        </p:txBody>
      </p:sp>
      <p:sp>
        <p:nvSpPr>
          <p:cNvPr id="29" name="TextBox 28"/>
          <p:cNvSpPr txBox="1"/>
          <p:nvPr/>
        </p:nvSpPr>
        <p:spPr>
          <a:xfrm>
            <a:off x="4407407" y="4965192"/>
            <a:ext cx="3529584" cy="1280160"/>
          </a:xfrm>
          <a:prstGeom prst="rect">
            <a:avLst/>
          </a:prstGeom>
          <a:noFill/>
        </p:spPr>
        <p:txBody>
          <a:bodyPr wrap="square">
            <a:spAutoFit/>
          </a:bodyPr>
          <a:lstStyle/>
          <a:p>
            <a:pPr>
              <a:spcBef>
                <a:spcPts val="600"/>
              </a:spcBef>
            </a:pPr>
            <a:r>
              <a:rPr sz="1100">
                <a:solidFill>
                  <a:srgbClr val="94A3B8"/>
                </a:solidFill>
              </a:rPr>
              <a:t>• Switch GPT-4o / GPT-4o-mini</a:t>
            </a:r>
          </a:p>
          <a:p>
            <a:pPr>
              <a:spcBef>
                <a:spcPts val="600"/>
              </a:spcBef>
            </a:pPr>
            <a:r>
              <a:rPr sz="1100">
                <a:solidFill>
                  <a:srgbClr val="94A3B8"/>
                </a:solidFill>
              </a:rPr>
              <a:t>• Change SQL dialect</a:t>
            </a:r>
          </a:p>
          <a:p>
            <a:pPr>
              <a:spcBef>
                <a:spcPts val="600"/>
              </a:spcBef>
            </a:pPr>
            <a:r>
              <a:rPr sz="1100">
                <a:solidFill>
                  <a:srgbClr val="94A3B8"/>
                </a:solidFill>
              </a:rPr>
              <a:t>• Adjust temperature</a:t>
            </a:r>
          </a:p>
          <a:p>
            <a:pPr>
              <a:spcBef>
                <a:spcPts val="600"/>
              </a:spcBef>
            </a:pPr>
            <a:r>
              <a:rPr sz="1100">
                <a:solidFill>
                  <a:srgbClr val="94A3B8"/>
                </a:solidFill>
              </a:rPr>
              <a:t>• No server restart required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457200"/>
            <a:ext cx="12188952" cy="54864"/>
          </a:xfrm>
          <a:prstGeom prst="rect">
            <a:avLst/>
          </a:prstGeom>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94360"/>
            <a:ext cx="10972800" cy="685800"/>
          </a:xfrm>
          <a:prstGeom prst="rect">
            <a:avLst/>
          </a:prstGeom>
          <a:noFill/>
        </p:spPr>
        <p:txBody>
          <a:bodyPr wrap="square">
            <a:spAutoFit/>
          </a:bodyPr>
          <a:lstStyle/>
          <a:p>
            <a:pPr algn="l"/>
            <a:r>
              <a:rPr sz="3000" b="1" i="0">
                <a:solidFill>
                  <a:srgbClr val="FFFFFF"/>
                </a:solidFill>
              </a:rPr>
              <a:t>Evaluation Results</a:t>
            </a:r>
          </a:p>
        </p:txBody>
      </p:sp>
      <p:sp>
        <p:nvSpPr>
          <p:cNvPr id="4" name="TextBox 3"/>
          <p:cNvSpPr txBox="1"/>
          <p:nvPr/>
        </p:nvSpPr>
        <p:spPr>
          <a:xfrm>
            <a:off x="457200" y="1234440"/>
            <a:ext cx="10972800" cy="365760"/>
          </a:xfrm>
          <a:prstGeom prst="rect">
            <a:avLst/>
          </a:prstGeom>
          <a:noFill/>
        </p:spPr>
        <p:txBody>
          <a:bodyPr wrap="square">
            <a:spAutoFit/>
          </a:bodyPr>
          <a:lstStyle/>
          <a:p>
            <a:pPr algn="l"/>
            <a:r>
              <a:rPr sz="1400" b="0" i="1">
                <a:solidFill>
                  <a:srgbClr val="94A3B8"/>
                </a:solidFill>
              </a:rPr>
              <a:t>Automated harness  •  25 ground-truth queries  •  4 query types</a:t>
            </a:r>
          </a:p>
        </p:txBody>
      </p:sp>
      <p:sp>
        <p:nvSpPr>
          <p:cNvPr id="5" name="Rectangle 4"/>
          <p:cNvSpPr/>
          <p:nvPr/>
        </p:nvSpPr>
        <p:spPr>
          <a:xfrm>
            <a:off x="365760" y="1691640"/>
            <a:ext cx="2606040" cy="2103120"/>
          </a:xfrm>
          <a:prstGeom prst="rect">
            <a:avLst/>
          </a:prstGeom>
          <a:solidFill>
            <a:srgbClr val="0D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783080"/>
            <a:ext cx="2606040" cy="914400"/>
          </a:xfrm>
          <a:prstGeom prst="rect">
            <a:avLst/>
          </a:prstGeom>
          <a:noFill/>
        </p:spPr>
        <p:txBody>
          <a:bodyPr wrap="square">
            <a:spAutoFit/>
          </a:bodyPr>
          <a:lstStyle/>
          <a:p>
            <a:pPr algn="ctr"/>
            <a:r>
              <a:rPr sz="4600" b="1" i="0">
                <a:solidFill>
                  <a:srgbClr val="22C55E"/>
                </a:solidFill>
              </a:rPr>
              <a:t>100%</a:t>
            </a:r>
          </a:p>
        </p:txBody>
      </p:sp>
      <p:sp>
        <p:nvSpPr>
          <p:cNvPr id="7" name="TextBox 6"/>
          <p:cNvSpPr txBox="1"/>
          <p:nvPr/>
        </p:nvSpPr>
        <p:spPr>
          <a:xfrm>
            <a:off x="365760" y="2651760"/>
            <a:ext cx="2606040" cy="411480"/>
          </a:xfrm>
          <a:prstGeom prst="rect">
            <a:avLst/>
          </a:prstGeom>
          <a:noFill/>
        </p:spPr>
        <p:txBody>
          <a:bodyPr wrap="square">
            <a:spAutoFit/>
          </a:bodyPr>
          <a:lstStyle/>
          <a:p>
            <a:pPr algn="ctr"/>
            <a:r>
              <a:rPr sz="1300" b="1" i="0">
                <a:solidFill>
                  <a:srgbClr val="FFFFFF"/>
                </a:solidFill>
              </a:rPr>
              <a:t>Execution Accuracy</a:t>
            </a:r>
          </a:p>
        </p:txBody>
      </p:sp>
      <p:sp>
        <p:nvSpPr>
          <p:cNvPr id="8" name="TextBox 7"/>
          <p:cNvSpPr txBox="1"/>
          <p:nvPr/>
        </p:nvSpPr>
        <p:spPr>
          <a:xfrm>
            <a:off x="365760" y="3090672"/>
            <a:ext cx="2606040" cy="594360"/>
          </a:xfrm>
          <a:prstGeom prst="rect">
            <a:avLst/>
          </a:prstGeom>
          <a:noFill/>
        </p:spPr>
        <p:txBody>
          <a:bodyPr wrap="square">
            <a:spAutoFit/>
          </a:bodyPr>
          <a:lstStyle/>
          <a:p>
            <a:pPr algn="ctr"/>
            <a:r>
              <a:rPr sz="1000" b="0" i="0">
                <a:solidFill>
                  <a:srgbClr val="94A3B8"/>
                </a:solidFill>
              </a:rPr>
              <a:t>25 / 25 queries
ran successfully</a:t>
            </a:r>
          </a:p>
        </p:txBody>
      </p:sp>
      <p:sp>
        <p:nvSpPr>
          <p:cNvPr id="9" name="Rectangle 8"/>
          <p:cNvSpPr/>
          <p:nvPr/>
        </p:nvSpPr>
        <p:spPr>
          <a:xfrm>
            <a:off x="3218688" y="1691640"/>
            <a:ext cx="2606040" cy="2103120"/>
          </a:xfrm>
          <a:prstGeom prst="rect">
            <a:avLst/>
          </a:prstGeom>
          <a:solidFill>
            <a:srgbClr val="0D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18688" y="1783080"/>
            <a:ext cx="2606040" cy="914400"/>
          </a:xfrm>
          <a:prstGeom prst="rect">
            <a:avLst/>
          </a:prstGeom>
          <a:noFill/>
        </p:spPr>
        <p:txBody>
          <a:bodyPr wrap="square">
            <a:spAutoFit/>
          </a:bodyPr>
          <a:lstStyle/>
          <a:p>
            <a:pPr algn="ctr"/>
            <a:r>
              <a:rPr sz="4600" b="1" i="0">
                <a:solidFill>
                  <a:srgbClr val="F59E0B"/>
                </a:solidFill>
              </a:rPr>
              <a:t>8%</a:t>
            </a:r>
          </a:p>
        </p:txBody>
      </p:sp>
      <p:sp>
        <p:nvSpPr>
          <p:cNvPr id="11" name="TextBox 10"/>
          <p:cNvSpPr txBox="1"/>
          <p:nvPr/>
        </p:nvSpPr>
        <p:spPr>
          <a:xfrm>
            <a:off x="3218688" y="2651760"/>
            <a:ext cx="2606040" cy="411480"/>
          </a:xfrm>
          <a:prstGeom prst="rect">
            <a:avLst/>
          </a:prstGeom>
          <a:noFill/>
        </p:spPr>
        <p:txBody>
          <a:bodyPr wrap="square">
            <a:spAutoFit/>
          </a:bodyPr>
          <a:lstStyle/>
          <a:p>
            <a:pPr algn="ctr"/>
            <a:r>
              <a:rPr sz="1300" b="1" i="0">
                <a:solidFill>
                  <a:srgbClr val="FFFFFF"/>
                </a:solidFill>
              </a:rPr>
              <a:t>Exact Match Rate</a:t>
            </a:r>
          </a:p>
        </p:txBody>
      </p:sp>
      <p:sp>
        <p:nvSpPr>
          <p:cNvPr id="12" name="TextBox 11"/>
          <p:cNvSpPr txBox="1"/>
          <p:nvPr/>
        </p:nvSpPr>
        <p:spPr>
          <a:xfrm>
            <a:off x="3218688" y="3090672"/>
            <a:ext cx="2606040" cy="594360"/>
          </a:xfrm>
          <a:prstGeom prst="rect">
            <a:avLst/>
          </a:prstGeom>
          <a:noFill/>
        </p:spPr>
        <p:txBody>
          <a:bodyPr wrap="square">
            <a:spAutoFit/>
          </a:bodyPr>
          <a:lstStyle/>
          <a:p>
            <a:pPr algn="ctr"/>
            <a:r>
              <a:rPr sz="1000" b="0" i="0">
                <a:solidFill>
                  <a:srgbClr val="94A3B8"/>
                </a:solidFill>
              </a:rPr>
              <a:t>Low due to LIMIT 500
guardrail — expected</a:t>
            </a:r>
          </a:p>
        </p:txBody>
      </p:sp>
      <p:sp>
        <p:nvSpPr>
          <p:cNvPr id="13" name="Rectangle 12"/>
          <p:cNvSpPr/>
          <p:nvPr/>
        </p:nvSpPr>
        <p:spPr>
          <a:xfrm>
            <a:off x="6071616" y="1691640"/>
            <a:ext cx="2606040" cy="2103120"/>
          </a:xfrm>
          <a:prstGeom prst="rect">
            <a:avLst/>
          </a:prstGeom>
          <a:solidFill>
            <a:srgbClr val="0D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71616" y="1783080"/>
            <a:ext cx="2606040" cy="914400"/>
          </a:xfrm>
          <a:prstGeom prst="rect">
            <a:avLst/>
          </a:prstGeom>
          <a:noFill/>
        </p:spPr>
        <p:txBody>
          <a:bodyPr wrap="square">
            <a:spAutoFit/>
          </a:bodyPr>
          <a:lstStyle/>
          <a:p>
            <a:pPr algn="ctr"/>
            <a:r>
              <a:rPr sz="4600" b="1" i="0">
                <a:solidFill>
                  <a:srgbClr val="0EA5E9"/>
                </a:solidFill>
              </a:rPr>
              <a:t>~3s</a:t>
            </a:r>
          </a:p>
        </p:txBody>
      </p:sp>
      <p:sp>
        <p:nvSpPr>
          <p:cNvPr id="15" name="TextBox 14"/>
          <p:cNvSpPr txBox="1"/>
          <p:nvPr/>
        </p:nvSpPr>
        <p:spPr>
          <a:xfrm>
            <a:off x="6071616" y="2651760"/>
            <a:ext cx="2606040" cy="411480"/>
          </a:xfrm>
          <a:prstGeom prst="rect">
            <a:avLst/>
          </a:prstGeom>
          <a:noFill/>
        </p:spPr>
        <p:txBody>
          <a:bodyPr wrap="square">
            <a:spAutoFit/>
          </a:bodyPr>
          <a:lstStyle/>
          <a:p>
            <a:pPr algn="ctr"/>
            <a:r>
              <a:rPr sz="1300" b="1" i="0">
                <a:solidFill>
                  <a:srgbClr val="FFFFFF"/>
                </a:solidFill>
              </a:rPr>
              <a:t>Avg Latency</a:t>
            </a:r>
          </a:p>
        </p:txBody>
      </p:sp>
      <p:sp>
        <p:nvSpPr>
          <p:cNvPr id="16" name="TextBox 15"/>
          <p:cNvSpPr txBox="1"/>
          <p:nvPr/>
        </p:nvSpPr>
        <p:spPr>
          <a:xfrm>
            <a:off x="6071616" y="3090672"/>
            <a:ext cx="2606040" cy="594360"/>
          </a:xfrm>
          <a:prstGeom prst="rect">
            <a:avLst/>
          </a:prstGeom>
          <a:noFill/>
        </p:spPr>
        <p:txBody>
          <a:bodyPr wrap="square">
            <a:spAutoFit/>
          </a:bodyPr>
          <a:lstStyle/>
          <a:p>
            <a:pPr algn="ctr"/>
            <a:r>
              <a:rPr sz="1000" b="0" i="0">
                <a:solidFill>
                  <a:srgbClr val="94A3B8"/>
                </a:solidFill>
              </a:rPr>
              <a:t>End-to-end: classify
→ generate → execute</a:t>
            </a:r>
          </a:p>
        </p:txBody>
      </p:sp>
      <p:sp>
        <p:nvSpPr>
          <p:cNvPr id="17" name="Rectangle 16"/>
          <p:cNvSpPr/>
          <p:nvPr/>
        </p:nvSpPr>
        <p:spPr>
          <a:xfrm>
            <a:off x="8924544" y="1691640"/>
            <a:ext cx="2606040" cy="2103120"/>
          </a:xfrm>
          <a:prstGeom prst="rect">
            <a:avLst/>
          </a:prstGeom>
          <a:solidFill>
            <a:srgbClr val="0D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24544" y="1783080"/>
            <a:ext cx="2606040" cy="914400"/>
          </a:xfrm>
          <a:prstGeom prst="rect">
            <a:avLst/>
          </a:prstGeom>
          <a:noFill/>
        </p:spPr>
        <p:txBody>
          <a:bodyPr wrap="square">
            <a:spAutoFit/>
          </a:bodyPr>
          <a:lstStyle/>
          <a:p>
            <a:pPr algn="ctr"/>
            <a:r>
              <a:rPr sz="4600" b="1" i="0">
                <a:solidFill>
                  <a:srgbClr val="F97316"/>
                </a:solidFill>
              </a:rPr>
              <a:t>30</a:t>
            </a:r>
          </a:p>
        </p:txBody>
      </p:sp>
      <p:sp>
        <p:nvSpPr>
          <p:cNvPr id="19" name="TextBox 18"/>
          <p:cNvSpPr txBox="1"/>
          <p:nvPr/>
        </p:nvSpPr>
        <p:spPr>
          <a:xfrm>
            <a:off x="8924544" y="2651760"/>
            <a:ext cx="2606040" cy="411480"/>
          </a:xfrm>
          <a:prstGeom prst="rect">
            <a:avLst/>
          </a:prstGeom>
          <a:noFill/>
        </p:spPr>
        <p:txBody>
          <a:bodyPr wrap="square">
            <a:spAutoFit/>
          </a:bodyPr>
          <a:lstStyle/>
          <a:p>
            <a:pPr algn="ctr"/>
            <a:r>
              <a:rPr sz="1300" b="1" i="0">
                <a:solidFill>
                  <a:srgbClr val="FFFFFF"/>
                </a:solidFill>
              </a:rPr>
              <a:t>Few-Shot Examples</a:t>
            </a:r>
          </a:p>
        </p:txBody>
      </p:sp>
      <p:sp>
        <p:nvSpPr>
          <p:cNvPr id="20" name="TextBox 19"/>
          <p:cNvSpPr txBox="1"/>
          <p:nvPr/>
        </p:nvSpPr>
        <p:spPr>
          <a:xfrm>
            <a:off x="8924544" y="3090672"/>
            <a:ext cx="2606040" cy="594360"/>
          </a:xfrm>
          <a:prstGeom prst="rect">
            <a:avLst/>
          </a:prstGeom>
          <a:noFill/>
        </p:spPr>
        <p:txBody>
          <a:bodyPr wrap="square">
            <a:spAutoFit/>
          </a:bodyPr>
          <a:lstStyle/>
          <a:p>
            <a:pPr algn="ctr"/>
            <a:r>
              <a:rPr sz="1000" b="0" i="0">
                <a:solidFill>
                  <a:srgbClr val="94A3B8"/>
                </a:solidFill>
              </a:rPr>
              <a:t>Seeded across all
4 query types</a:t>
            </a:r>
          </a:p>
        </p:txBody>
      </p:sp>
      <p:sp>
        <p:nvSpPr>
          <p:cNvPr id="21" name="Rectangle 20"/>
          <p:cNvSpPr/>
          <p:nvPr/>
        </p:nvSpPr>
        <p:spPr>
          <a:xfrm>
            <a:off x="365760" y="4023360"/>
            <a:ext cx="4160520" cy="365760"/>
          </a:xfrm>
          <a:prstGeom prst="rect">
            <a:avLst/>
          </a:prstGeom>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4078224"/>
            <a:ext cx="4114800" cy="274320"/>
          </a:xfrm>
          <a:prstGeom prst="rect">
            <a:avLst/>
          </a:prstGeom>
          <a:noFill/>
        </p:spPr>
        <p:txBody>
          <a:bodyPr wrap="square">
            <a:spAutoFit/>
          </a:bodyPr>
          <a:lstStyle/>
          <a:p>
            <a:pPr algn="ctr"/>
            <a:r>
              <a:rPr sz="1200" b="1" i="0">
                <a:solidFill>
                  <a:srgbClr val="0F172A"/>
                </a:solidFill>
              </a:rPr>
              <a:t>Query Type</a:t>
            </a:r>
          </a:p>
        </p:txBody>
      </p:sp>
      <p:sp>
        <p:nvSpPr>
          <p:cNvPr id="23" name="Rectangle 22"/>
          <p:cNvSpPr/>
          <p:nvPr/>
        </p:nvSpPr>
        <p:spPr>
          <a:xfrm>
            <a:off x="4754880" y="4023360"/>
            <a:ext cx="1417320" cy="365760"/>
          </a:xfrm>
          <a:prstGeom prst="rect">
            <a:avLst/>
          </a:prstGeom>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4078224"/>
            <a:ext cx="1371600" cy="274320"/>
          </a:xfrm>
          <a:prstGeom prst="rect">
            <a:avLst/>
          </a:prstGeom>
          <a:noFill/>
        </p:spPr>
        <p:txBody>
          <a:bodyPr wrap="square">
            <a:spAutoFit/>
          </a:bodyPr>
          <a:lstStyle/>
          <a:p>
            <a:pPr algn="ctr"/>
            <a:r>
              <a:rPr sz="1200" b="1" i="0">
                <a:solidFill>
                  <a:srgbClr val="0F172A"/>
                </a:solidFill>
              </a:rPr>
              <a:t>Count</a:t>
            </a:r>
          </a:p>
        </p:txBody>
      </p:sp>
      <p:sp>
        <p:nvSpPr>
          <p:cNvPr id="25" name="Rectangle 24"/>
          <p:cNvSpPr/>
          <p:nvPr/>
        </p:nvSpPr>
        <p:spPr>
          <a:xfrm>
            <a:off x="6400800" y="4023360"/>
            <a:ext cx="2057400" cy="365760"/>
          </a:xfrm>
          <a:prstGeom prst="rect">
            <a:avLst/>
          </a:prstGeom>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4078224"/>
            <a:ext cx="2011679" cy="274320"/>
          </a:xfrm>
          <a:prstGeom prst="rect">
            <a:avLst/>
          </a:prstGeom>
          <a:noFill/>
        </p:spPr>
        <p:txBody>
          <a:bodyPr wrap="square">
            <a:spAutoFit/>
          </a:bodyPr>
          <a:lstStyle/>
          <a:p>
            <a:pPr algn="ctr"/>
            <a:r>
              <a:rPr sz="1200" b="1" i="0">
                <a:solidFill>
                  <a:srgbClr val="0F172A"/>
                </a:solidFill>
              </a:rPr>
              <a:t>Exec Accuracy</a:t>
            </a:r>
          </a:p>
        </p:txBody>
      </p:sp>
      <p:sp>
        <p:nvSpPr>
          <p:cNvPr id="27" name="Rectangle 26"/>
          <p:cNvSpPr/>
          <p:nvPr/>
        </p:nvSpPr>
        <p:spPr>
          <a:xfrm>
            <a:off x="8686800" y="4023360"/>
            <a:ext cx="2057400" cy="365760"/>
          </a:xfrm>
          <a:prstGeom prst="rect">
            <a:avLst/>
          </a:prstGeom>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32520" y="4078224"/>
            <a:ext cx="2011679" cy="274320"/>
          </a:xfrm>
          <a:prstGeom prst="rect">
            <a:avLst/>
          </a:prstGeom>
          <a:noFill/>
        </p:spPr>
        <p:txBody>
          <a:bodyPr wrap="square">
            <a:spAutoFit/>
          </a:bodyPr>
          <a:lstStyle/>
          <a:p>
            <a:pPr algn="ctr"/>
            <a:r>
              <a:rPr sz="1200" b="1" i="0">
                <a:solidFill>
                  <a:srgbClr val="0F172A"/>
                </a:solidFill>
              </a:rPr>
              <a:t>Exact Match</a:t>
            </a:r>
          </a:p>
        </p:txBody>
      </p:sp>
      <p:sp>
        <p:nvSpPr>
          <p:cNvPr id="29" name="Rectangle 28"/>
          <p:cNvSpPr/>
          <p:nvPr/>
        </p:nvSpPr>
        <p:spPr>
          <a:xfrm>
            <a:off x="365760" y="4389120"/>
            <a:ext cx="4160520" cy="365760"/>
          </a:xfrm>
          <a:prstGeom prst="rect">
            <a:avLst/>
          </a:prstGeom>
          <a:solidFill>
            <a:srgbClr val="0D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4443984"/>
            <a:ext cx="4114800" cy="274320"/>
          </a:xfrm>
          <a:prstGeom prst="rect">
            <a:avLst/>
          </a:prstGeom>
          <a:noFill/>
        </p:spPr>
        <p:txBody>
          <a:bodyPr wrap="square">
            <a:spAutoFit/>
          </a:bodyPr>
          <a:lstStyle/>
          <a:p>
            <a:pPr algn="ctr"/>
            <a:r>
              <a:rPr sz="1200" b="0" i="0">
                <a:solidFill>
                  <a:srgbClr val="FFFFFF"/>
                </a:solidFill>
              </a:rPr>
              <a:t>SELECT_SIMPLE</a:t>
            </a:r>
          </a:p>
        </p:txBody>
      </p:sp>
      <p:sp>
        <p:nvSpPr>
          <p:cNvPr id="31" name="Rectangle 30"/>
          <p:cNvSpPr/>
          <p:nvPr/>
        </p:nvSpPr>
        <p:spPr>
          <a:xfrm>
            <a:off x="4754880" y="4389120"/>
            <a:ext cx="1417320" cy="365760"/>
          </a:xfrm>
          <a:prstGeom prst="rect">
            <a:avLst/>
          </a:prstGeom>
          <a:solidFill>
            <a:srgbClr val="0D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00600" y="4443984"/>
            <a:ext cx="1371600" cy="274320"/>
          </a:xfrm>
          <a:prstGeom prst="rect">
            <a:avLst/>
          </a:prstGeom>
          <a:noFill/>
        </p:spPr>
        <p:txBody>
          <a:bodyPr wrap="square">
            <a:spAutoFit/>
          </a:bodyPr>
          <a:lstStyle/>
          <a:p>
            <a:pPr algn="ctr"/>
            <a:r>
              <a:rPr sz="1200" b="0" i="0">
                <a:solidFill>
                  <a:srgbClr val="FFFFFF"/>
                </a:solidFill>
              </a:rPr>
              <a:t>6</a:t>
            </a:r>
          </a:p>
        </p:txBody>
      </p:sp>
      <p:sp>
        <p:nvSpPr>
          <p:cNvPr id="33" name="Rectangle 32"/>
          <p:cNvSpPr/>
          <p:nvPr/>
        </p:nvSpPr>
        <p:spPr>
          <a:xfrm>
            <a:off x="6400800" y="4389120"/>
            <a:ext cx="2057400" cy="365760"/>
          </a:xfrm>
          <a:prstGeom prst="rect">
            <a:avLst/>
          </a:prstGeom>
          <a:solidFill>
            <a:srgbClr val="0D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46520" y="4443984"/>
            <a:ext cx="2011679" cy="274320"/>
          </a:xfrm>
          <a:prstGeom prst="rect">
            <a:avLst/>
          </a:prstGeom>
          <a:noFill/>
        </p:spPr>
        <p:txBody>
          <a:bodyPr wrap="square">
            <a:spAutoFit/>
          </a:bodyPr>
          <a:lstStyle/>
          <a:p>
            <a:pPr algn="ctr"/>
            <a:r>
              <a:rPr sz="1200" b="0" i="0">
                <a:solidFill>
                  <a:srgbClr val="22C55E"/>
                </a:solidFill>
              </a:rPr>
              <a:t>100%</a:t>
            </a:r>
          </a:p>
        </p:txBody>
      </p:sp>
      <p:sp>
        <p:nvSpPr>
          <p:cNvPr id="35" name="Rectangle 34"/>
          <p:cNvSpPr/>
          <p:nvPr/>
        </p:nvSpPr>
        <p:spPr>
          <a:xfrm>
            <a:off x="8686800" y="4389120"/>
            <a:ext cx="2057400" cy="365760"/>
          </a:xfrm>
          <a:prstGeom prst="rect">
            <a:avLst/>
          </a:prstGeom>
          <a:solidFill>
            <a:srgbClr val="0D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732520" y="4443984"/>
            <a:ext cx="2011679" cy="274320"/>
          </a:xfrm>
          <a:prstGeom prst="rect">
            <a:avLst/>
          </a:prstGeom>
          <a:noFill/>
        </p:spPr>
        <p:txBody>
          <a:bodyPr wrap="square">
            <a:spAutoFit/>
          </a:bodyPr>
          <a:lstStyle/>
          <a:p>
            <a:pPr algn="ctr"/>
            <a:r>
              <a:rPr sz="1200" b="0" i="0">
                <a:solidFill>
                  <a:srgbClr val="FFFFFF"/>
                </a:solidFill>
              </a:rPr>
              <a:t>16.7%</a:t>
            </a:r>
          </a:p>
        </p:txBody>
      </p:sp>
      <p:sp>
        <p:nvSpPr>
          <p:cNvPr id="37" name="Rectangle 36"/>
          <p:cNvSpPr/>
          <p:nvPr/>
        </p:nvSpPr>
        <p:spPr>
          <a:xfrm>
            <a:off x="365760" y="4754880"/>
            <a:ext cx="4160520" cy="365760"/>
          </a:xfrm>
          <a:prstGeom prst="rect">
            <a:avLst/>
          </a:prstGeom>
          <a:solidFill>
            <a:srgbClr val="0A18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80" y="4809744"/>
            <a:ext cx="4114800" cy="274320"/>
          </a:xfrm>
          <a:prstGeom prst="rect">
            <a:avLst/>
          </a:prstGeom>
          <a:noFill/>
        </p:spPr>
        <p:txBody>
          <a:bodyPr wrap="square">
            <a:spAutoFit/>
          </a:bodyPr>
          <a:lstStyle/>
          <a:p>
            <a:pPr algn="ctr"/>
            <a:r>
              <a:rPr sz="1200" b="0" i="0">
                <a:solidFill>
                  <a:srgbClr val="FFFFFF"/>
                </a:solidFill>
              </a:rPr>
              <a:t>SELECT_AGGREGATE</a:t>
            </a:r>
          </a:p>
        </p:txBody>
      </p:sp>
      <p:sp>
        <p:nvSpPr>
          <p:cNvPr id="39" name="Rectangle 38"/>
          <p:cNvSpPr/>
          <p:nvPr/>
        </p:nvSpPr>
        <p:spPr>
          <a:xfrm>
            <a:off x="4754880" y="4754880"/>
            <a:ext cx="1417320" cy="365760"/>
          </a:xfrm>
          <a:prstGeom prst="rect">
            <a:avLst/>
          </a:prstGeom>
          <a:solidFill>
            <a:srgbClr val="0A18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00600" y="4809744"/>
            <a:ext cx="1371600" cy="274320"/>
          </a:xfrm>
          <a:prstGeom prst="rect">
            <a:avLst/>
          </a:prstGeom>
          <a:noFill/>
        </p:spPr>
        <p:txBody>
          <a:bodyPr wrap="square">
            <a:spAutoFit/>
          </a:bodyPr>
          <a:lstStyle/>
          <a:p>
            <a:pPr algn="ctr"/>
            <a:r>
              <a:rPr sz="1200" b="0" i="0">
                <a:solidFill>
                  <a:srgbClr val="FFFFFF"/>
                </a:solidFill>
              </a:rPr>
              <a:t>7</a:t>
            </a:r>
          </a:p>
        </p:txBody>
      </p:sp>
      <p:sp>
        <p:nvSpPr>
          <p:cNvPr id="41" name="Rectangle 40"/>
          <p:cNvSpPr/>
          <p:nvPr/>
        </p:nvSpPr>
        <p:spPr>
          <a:xfrm>
            <a:off x="6400800" y="4754880"/>
            <a:ext cx="2057400" cy="365760"/>
          </a:xfrm>
          <a:prstGeom prst="rect">
            <a:avLst/>
          </a:prstGeom>
          <a:solidFill>
            <a:srgbClr val="0A18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46520" y="4809744"/>
            <a:ext cx="2011679" cy="274320"/>
          </a:xfrm>
          <a:prstGeom prst="rect">
            <a:avLst/>
          </a:prstGeom>
          <a:noFill/>
        </p:spPr>
        <p:txBody>
          <a:bodyPr wrap="square">
            <a:spAutoFit/>
          </a:bodyPr>
          <a:lstStyle/>
          <a:p>
            <a:pPr algn="ctr"/>
            <a:r>
              <a:rPr sz="1200" b="0" i="0">
                <a:solidFill>
                  <a:srgbClr val="22C55E"/>
                </a:solidFill>
              </a:rPr>
              <a:t>100%</a:t>
            </a:r>
          </a:p>
        </p:txBody>
      </p:sp>
      <p:sp>
        <p:nvSpPr>
          <p:cNvPr id="43" name="Rectangle 42"/>
          <p:cNvSpPr/>
          <p:nvPr/>
        </p:nvSpPr>
        <p:spPr>
          <a:xfrm>
            <a:off x="8686800" y="4754880"/>
            <a:ext cx="2057400" cy="365760"/>
          </a:xfrm>
          <a:prstGeom prst="rect">
            <a:avLst/>
          </a:prstGeom>
          <a:solidFill>
            <a:srgbClr val="0A18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732520" y="4809744"/>
            <a:ext cx="2011679" cy="274320"/>
          </a:xfrm>
          <a:prstGeom prst="rect">
            <a:avLst/>
          </a:prstGeom>
          <a:noFill/>
        </p:spPr>
        <p:txBody>
          <a:bodyPr wrap="square">
            <a:spAutoFit/>
          </a:bodyPr>
          <a:lstStyle/>
          <a:p>
            <a:pPr algn="ctr"/>
            <a:r>
              <a:rPr sz="1200" b="0" i="0">
                <a:solidFill>
                  <a:srgbClr val="FFFFFF"/>
                </a:solidFill>
              </a:rPr>
              <a:t>0.0%</a:t>
            </a:r>
          </a:p>
        </p:txBody>
      </p:sp>
      <p:sp>
        <p:nvSpPr>
          <p:cNvPr id="45" name="Rectangle 44"/>
          <p:cNvSpPr/>
          <p:nvPr/>
        </p:nvSpPr>
        <p:spPr>
          <a:xfrm>
            <a:off x="365760" y="5120640"/>
            <a:ext cx="4160520" cy="365760"/>
          </a:xfrm>
          <a:prstGeom prst="rect">
            <a:avLst/>
          </a:prstGeom>
          <a:solidFill>
            <a:srgbClr val="0D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11480" y="5175504"/>
            <a:ext cx="4114800" cy="274320"/>
          </a:xfrm>
          <a:prstGeom prst="rect">
            <a:avLst/>
          </a:prstGeom>
          <a:noFill/>
        </p:spPr>
        <p:txBody>
          <a:bodyPr wrap="square">
            <a:spAutoFit/>
          </a:bodyPr>
          <a:lstStyle/>
          <a:p>
            <a:pPr algn="ctr"/>
            <a:r>
              <a:rPr sz="1200" b="0" i="0">
                <a:solidFill>
                  <a:srgbClr val="FFFFFF"/>
                </a:solidFill>
              </a:rPr>
              <a:t>SELECT_JOIN</a:t>
            </a:r>
          </a:p>
        </p:txBody>
      </p:sp>
      <p:sp>
        <p:nvSpPr>
          <p:cNvPr id="47" name="Rectangle 46"/>
          <p:cNvSpPr/>
          <p:nvPr/>
        </p:nvSpPr>
        <p:spPr>
          <a:xfrm>
            <a:off x="4754880" y="5120640"/>
            <a:ext cx="1417320" cy="365760"/>
          </a:xfrm>
          <a:prstGeom prst="rect">
            <a:avLst/>
          </a:prstGeom>
          <a:solidFill>
            <a:srgbClr val="0D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800600" y="5175504"/>
            <a:ext cx="1371600" cy="274320"/>
          </a:xfrm>
          <a:prstGeom prst="rect">
            <a:avLst/>
          </a:prstGeom>
          <a:noFill/>
        </p:spPr>
        <p:txBody>
          <a:bodyPr wrap="square">
            <a:spAutoFit/>
          </a:bodyPr>
          <a:lstStyle/>
          <a:p>
            <a:pPr algn="ctr"/>
            <a:r>
              <a:rPr sz="1200" b="0" i="0">
                <a:solidFill>
                  <a:srgbClr val="FFFFFF"/>
                </a:solidFill>
              </a:rPr>
              <a:t>7</a:t>
            </a:r>
          </a:p>
        </p:txBody>
      </p:sp>
      <p:sp>
        <p:nvSpPr>
          <p:cNvPr id="49" name="Rectangle 48"/>
          <p:cNvSpPr/>
          <p:nvPr/>
        </p:nvSpPr>
        <p:spPr>
          <a:xfrm>
            <a:off x="6400800" y="5120640"/>
            <a:ext cx="2057400" cy="365760"/>
          </a:xfrm>
          <a:prstGeom prst="rect">
            <a:avLst/>
          </a:prstGeom>
          <a:solidFill>
            <a:srgbClr val="0D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46520" y="5175504"/>
            <a:ext cx="2011679" cy="274320"/>
          </a:xfrm>
          <a:prstGeom prst="rect">
            <a:avLst/>
          </a:prstGeom>
          <a:noFill/>
        </p:spPr>
        <p:txBody>
          <a:bodyPr wrap="square">
            <a:spAutoFit/>
          </a:bodyPr>
          <a:lstStyle/>
          <a:p>
            <a:pPr algn="ctr"/>
            <a:r>
              <a:rPr sz="1200" b="0" i="0">
                <a:solidFill>
                  <a:srgbClr val="22C55E"/>
                </a:solidFill>
              </a:rPr>
              <a:t>100%</a:t>
            </a:r>
          </a:p>
        </p:txBody>
      </p:sp>
      <p:sp>
        <p:nvSpPr>
          <p:cNvPr id="51" name="Rectangle 50"/>
          <p:cNvSpPr/>
          <p:nvPr/>
        </p:nvSpPr>
        <p:spPr>
          <a:xfrm>
            <a:off x="8686800" y="5120640"/>
            <a:ext cx="2057400" cy="365760"/>
          </a:xfrm>
          <a:prstGeom prst="rect">
            <a:avLst/>
          </a:prstGeom>
          <a:solidFill>
            <a:srgbClr val="0D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732520" y="5175504"/>
            <a:ext cx="2011679" cy="274320"/>
          </a:xfrm>
          <a:prstGeom prst="rect">
            <a:avLst/>
          </a:prstGeom>
          <a:noFill/>
        </p:spPr>
        <p:txBody>
          <a:bodyPr wrap="square">
            <a:spAutoFit/>
          </a:bodyPr>
          <a:lstStyle/>
          <a:p>
            <a:pPr algn="ctr"/>
            <a:r>
              <a:rPr sz="1200" b="0" i="0">
                <a:solidFill>
                  <a:srgbClr val="FFFFFF"/>
                </a:solidFill>
              </a:rPr>
              <a:t>14.3%</a:t>
            </a:r>
          </a:p>
        </p:txBody>
      </p:sp>
      <p:sp>
        <p:nvSpPr>
          <p:cNvPr id="53" name="Rectangle 52"/>
          <p:cNvSpPr/>
          <p:nvPr/>
        </p:nvSpPr>
        <p:spPr>
          <a:xfrm>
            <a:off x="365760" y="5486400"/>
            <a:ext cx="4160520" cy="365760"/>
          </a:xfrm>
          <a:prstGeom prst="rect">
            <a:avLst/>
          </a:prstGeom>
          <a:solidFill>
            <a:srgbClr val="0A18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1480" y="5541264"/>
            <a:ext cx="4114800" cy="274320"/>
          </a:xfrm>
          <a:prstGeom prst="rect">
            <a:avLst/>
          </a:prstGeom>
          <a:noFill/>
        </p:spPr>
        <p:txBody>
          <a:bodyPr wrap="square">
            <a:spAutoFit/>
          </a:bodyPr>
          <a:lstStyle/>
          <a:p>
            <a:pPr algn="ctr"/>
            <a:r>
              <a:rPr sz="1200" b="0" i="0">
                <a:solidFill>
                  <a:srgbClr val="FFFFFF"/>
                </a:solidFill>
              </a:rPr>
              <a:t>SELECT_TEMPORAL</a:t>
            </a:r>
          </a:p>
        </p:txBody>
      </p:sp>
      <p:sp>
        <p:nvSpPr>
          <p:cNvPr id="55" name="Rectangle 54"/>
          <p:cNvSpPr/>
          <p:nvPr/>
        </p:nvSpPr>
        <p:spPr>
          <a:xfrm>
            <a:off x="4754880" y="5486400"/>
            <a:ext cx="1417320" cy="365760"/>
          </a:xfrm>
          <a:prstGeom prst="rect">
            <a:avLst/>
          </a:prstGeom>
          <a:solidFill>
            <a:srgbClr val="0A18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800600" y="5541264"/>
            <a:ext cx="1371600" cy="274320"/>
          </a:xfrm>
          <a:prstGeom prst="rect">
            <a:avLst/>
          </a:prstGeom>
          <a:noFill/>
        </p:spPr>
        <p:txBody>
          <a:bodyPr wrap="square">
            <a:spAutoFit/>
          </a:bodyPr>
          <a:lstStyle/>
          <a:p>
            <a:pPr algn="ctr"/>
            <a:r>
              <a:rPr sz="1200" b="0" i="0">
                <a:solidFill>
                  <a:srgbClr val="FFFFFF"/>
                </a:solidFill>
              </a:rPr>
              <a:t>5</a:t>
            </a:r>
          </a:p>
        </p:txBody>
      </p:sp>
      <p:sp>
        <p:nvSpPr>
          <p:cNvPr id="57" name="Rectangle 56"/>
          <p:cNvSpPr/>
          <p:nvPr/>
        </p:nvSpPr>
        <p:spPr>
          <a:xfrm>
            <a:off x="6400800" y="5486400"/>
            <a:ext cx="2057400" cy="365760"/>
          </a:xfrm>
          <a:prstGeom prst="rect">
            <a:avLst/>
          </a:prstGeom>
          <a:solidFill>
            <a:srgbClr val="0A18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446520" y="5541264"/>
            <a:ext cx="2011679" cy="274320"/>
          </a:xfrm>
          <a:prstGeom prst="rect">
            <a:avLst/>
          </a:prstGeom>
          <a:noFill/>
        </p:spPr>
        <p:txBody>
          <a:bodyPr wrap="square">
            <a:spAutoFit/>
          </a:bodyPr>
          <a:lstStyle/>
          <a:p>
            <a:pPr algn="ctr"/>
            <a:r>
              <a:rPr sz="1200" b="0" i="0">
                <a:solidFill>
                  <a:srgbClr val="22C55E"/>
                </a:solidFill>
              </a:rPr>
              <a:t>100%</a:t>
            </a:r>
          </a:p>
        </p:txBody>
      </p:sp>
      <p:sp>
        <p:nvSpPr>
          <p:cNvPr id="59" name="Rectangle 58"/>
          <p:cNvSpPr/>
          <p:nvPr/>
        </p:nvSpPr>
        <p:spPr>
          <a:xfrm>
            <a:off x="8686800" y="5486400"/>
            <a:ext cx="2057400" cy="365760"/>
          </a:xfrm>
          <a:prstGeom prst="rect">
            <a:avLst/>
          </a:prstGeom>
          <a:solidFill>
            <a:srgbClr val="0A18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732520" y="5541264"/>
            <a:ext cx="2011679" cy="274320"/>
          </a:xfrm>
          <a:prstGeom prst="rect">
            <a:avLst/>
          </a:prstGeom>
          <a:noFill/>
        </p:spPr>
        <p:txBody>
          <a:bodyPr wrap="square">
            <a:spAutoFit/>
          </a:bodyPr>
          <a:lstStyle/>
          <a:p>
            <a:pPr algn="ctr"/>
            <a:r>
              <a:rPr sz="1200" b="0" i="0">
                <a:solidFill>
                  <a:srgbClr val="FFFFFF"/>
                </a:solidFill>
              </a:rPr>
              <a:t>0.0%</a:t>
            </a:r>
          </a:p>
        </p:txBody>
      </p:sp>
      <p:sp>
        <p:nvSpPr>
          <p:cNvPr id="61" name="TextBox 60"/>
          <p:cNvSpPr txBox="1"/>
          <p:nvPr/>
        </p:nvSpPr>
        <p:spPr>
          <a:xfrm>
            <a:off x="365760" y="6400800"/>
            <a:ext cx="11430000" cy="347472"/>
          </a:xfrm>
          <a:prstGeom prst="rect">
            <a:avLst/>
          </a:prstGeom>
          <a:noFill/>
        </p:spPr>
        <p:txBody>
          <a:bodyPr wrap="square">
            <a:spAutoFit/>
          </a:bodyPr>
          <a:lstStyle/>
          <a:p>
            <a:pPr algn="ctr"/>
            <a:r>
              <a:rPr sz="1000" b="0" i="1">
                <a:solidFill>
                  <a:srgbClr val="94A3B8"/>
                </a:solidFill>
              </a:rPr>
              <a:t>Note: Exact match is low because the pipeline appends LIMIT 500 (max_rows guardrail). Results are correct — execution accuracy is the primary metric.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457200"/>
            <a:ext cx="12188952" cy="54864"/>
          </a:xfrm>
          <a:prstGeom prst="rect">
            <a:avLst/>
          </a:prstGeom>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94360"/>
            <a:ext cx="10972800" cy="685800"/>
          </a:xfrm>
          <a:prstGeom prst="rect">
            <a:avLst/>
          </a:prstGeom>
          <a:noFill/>
        </p:spPr>
        <p:txBody>
          <a:bodyPr wrap="square">
            <a:spAutoFit/>
          </a:bodyPr>
          <a:lstStyle/>
          <a:p>
            <a:pPr algn="l"/>
            <a:r>
              <a:rPr sz="3000" b="1" i="0">
                <a:solidFill>
                  <a:srgbClr val="FFFFFF"/>
                </a:solidFill>
              </a:rPr>
              <a:t>Live Demo — Sample Queries</a:t>
            </a:r>
          </a:p>
        </p:txBody>
      </p:sp>
      <p:sp>
        <p:nvSpPr>
          <p:cNvPr id="4" name="TextBox 3"/>
          <p:cNvSpPr txBox="1"/>
          <p:nvPr/>
        </p:nvSpPr>
        <p:spPr>
          <a:xfrm>
            <a:off x="457200" y="1234440"/>
            <a:ext cx="10972800" cy="365760"/>
          </a:xfrm>
          <a:prstGeom prst="rect">
            <a:avLst/>
          </a:prstGeom>
          <a:noFill/>
        </p:spPr>
        <p:txBody>
          <a:bodyPr wrap="square">
            <a:spAutoFit/>
          </a:bodyPr>
          <a:lstStyle/>
          <a:p>
            <a:pPr algn="l"/>
            <a:r>
              <a:rPr sz="1400" b="0" i="1">
                <a:solidFill>
                  <a:srgbClr val="94A3B8"/>
                </a:solidFill>
              </a:rPr>
              <a:t>Type these into the Query UI at localhost:3000/query</a:t>
            </a:r>
          </a:p>
        </p:txBody>
      </p:sp>
      <p:sp>
        <p:nvSpPr>
          <p:cNvPr id="5" name="Rectangle 4"/>
          <p:cNvSpPr/>
          <p:nvPr/>
        </p:nvSpPr>
        <p:spPr>
          <a:xfrm>
            <a:off x="365760" y="1691640"/>
            <a:ext cx="5577840" cy="868680"/>
          </a:xfrm>
          <a:prstGeom prst="rect">
            <a:avLst/>
          </a:prstGeom>
          <a:solidFill>
            <a:srgbClr val="0D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691640"/>
            <a:ext cx="73152" cy="868680"/>
          </a:xfrm>
          <a:prstGeom prst="rect">
            <a:avLst/>
          </a:prstGeom>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46504"/>
            <a:ext cx="2011680" cy="274320"/>
          </a:xfrm>
          <a:prstGeom prst="rect">
            <a:avLst/>
          </a:prstGeom>
          <a:noFill/>
        </p:spPr>
        <p:txBody>
          <a:bodyPr wrap="square">
            <a:spAutoFit/>
          </a:bodyPr>
          <a:lstStyle/>
          <a:p>
            <a:pPr algn="l"/>
            <a:r>
              <a:rPr sz="900" b="1" i="0">
                <a:solidFill>
                  <a:srgbClr val="0EA5E9"/>
                </a:solidFill>
              </a:rPr>
              <a:t>SIMPLE</a:t>
            </a:r>
          </a:p>
        </p:txBody>
      </p:sp>
      <p:sp>
        <p:nvSpPr>
          <p:cNvPr id="8" name="TextBox 7"/>
          <p:cNvSpPr txBox="1"/>
          <p:nvPr/>
        </p:nvSpPr>
        <p:spPr>
          <a:xfrm>
            <a:off x="548640" y="2130552"/>
            <a:ext cx="5212080" cy="365760"/>
          </a:xfrm>
          <a:prstGeom prst="rect">
            <a:avLst/>
          </a:prstGeom>
          <a:noFill/>
        </p:spPr>
        <p:txBody>
          <a:bodyPr wrap="square">
            <a:spAutoFit/>
          </a:bodyPr>
          <a:lstStyle/>
          <a:p>
            <a:pPr algn="l"/>
            <a:r>
              <a:rPr sz="1300" b="1" i="0">
                <a:solidFill>
                  <a:srgbClr val="FFFFFF"/>
                </a:solidFill>
              </a:rPr>
              <a:t>"List all pending orders"</a:t>
            </a:r>
          </a:p>
        </p:txBody>
      </p:sp>
      <p:sp>
        <p:nvSpPr>
          <p:cNvPr id="9" name="Rectangle 8"/>
          <p:cNvSpPr/>
          <p:nvPr/>
        </p:nvSpPr>
        <p:spPr>
          <a:xfrm>
            <a:off x="6309360" y="1691640"/>
            <a:ext cx="5577840" cy="868680"/>
          </a:xfrm>
          <a:prstGeom prst="rect">
            <a:avLst/>
          </a:prstGeom>
          <a:solidFill>
            <a:srgbClr val="0D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691640"/>
            <a:ext cx="73152" cy="868680"/>
          </a:xfrm>
          <a:prstGeom prst="rect">
            <a:avLst/>
          </a:prstGeom>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46504"/>
            <a:ext cx="2011680" cy="274320"/>
          </a:xfrm>
          <a:prstGeom prst="rect">
            <a:avLst/>
          </a:prstGeom>
          <a:noFill/>
        </p:spPr>
        <p:txBody>
          <a:bodyPr wrap="square">
            <a:spAutoFit/>
          </a:bodyPr>
          <a:lstStyle/>
          <a:p>
            <a:pPr algn="l"/>
            <a:r>
              <a:rPr sz="900" b="1" i="0">
                <a:solidFill>
                  <a:srgbClr val="0EA5E9"/>
                </a:solidFill>
              </a:rPr>
              <a:t>SIMPLE</a:t>
            </a:r>
          </a:p>
        </p:txBody>
      </p:sp>
      <p:sp>
        <p:nvSpPr>
          <p:cNvPr id="12" name="TextBox 11"/>
          <p:cNvSpPr txBox="1"/>
          <p:nvPr/>
        </p:nvSpPr>
        <p:spPr>
          <a:xfrm>
            <a:off x="6492240" y="2130552"/>
            <a:ext cx="5212080" cy="365760"/>
          </a:xfrm>
          <a:prstGeom prst="rect">
            <a:avLst/>
          </a:prstGeom>
          <a:noFill/>
        </p:spPr>
        <p:txBody>
          <a:bodyPr wrap="square">
            <a:spAutoFit/>
          </a:bodyPr>
          <a:lstStyle/>
          <a:p>
            <a:pPr algn="l"/>
            <a:r>
              <a:rPr sz="1300" b="1" i="0">
                <a:solidFill>
                  <a:srgbClr val="FFFFFF"/>
                </a:solidFill>
              </a:rPr>
              <a:t>"Show products that are out of stock"</a:t>
            </a:r>
          </a:p>
        </p:txBody>
      </p:sp>
      <p:sp>
        <p:nvSpPr>
          <p:cNvPr id="13" name="Rectangle 12"/>
          <p:cNvSpPr/>
          <p:nvPr/>
        </p:nvSpPr>
        <p:spPr>
          <a:xfrm>
            <a:off x="365760" y="2679192"/>
            <a:ext cx="5577840" cy="868680"/>
          </a:xfrm>
          <a:prstGeom prst="rect">
            <a:avLst/>
          </a:prstGeom>
          <a:solidFill>
            <a:srgbClr val="0D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2679192"/>
            <a:ext cx="73152" cy="868680"/>
          </a:xfrm>
          <a:prstGeom prst="rect">
            <a:avLst/>
          </a:prstGeom>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734056"/>
            <a:ext cx="2011680" cy="274320"/>
          </a:xfrm>
          <a:prstGeom prst="rect">
            <a:avLst/>
          </a:prstGeom>
          <a:noFill/>
        </p:spPr>
        <p:txBody>
          <a:bodyPr wrap="square">
            <a:spAutoFit/>
          </a:bodyPr>
          <a:lstStyle/>
          <a:p>
            <a:pPr algn="l"/>
            <a:r>
              <a:rPr sz="900" b="1" i="0">
                <a:solidFill>
                  <a:srgbClr val="22C55E"/>
                </a:solidFill>
              </a:rPr>
              <a:t>AGGREGATE</a:t>
            </a:r>
          </a:p>
        </p:txBody>
      </p:sp>
      <p:sp>
        <p:nvSpPr>
          <p:cNvPr id="16" name="TextBox 15"/>
          <p:cNvSpPr txBox="1"/>
          <p:nvPr/>
        </p:nvSpPr>
        <p:spPr>
          <a:xfrm>
            <a:off x="548640" y="3118104"/>
            <a:ext cx="5212080" cy="365760"/>
          </a:xfrm>
          <a:prstGeom prst="rect">
            <a:avLst/>
          </a:prstGeom>
          <a:noFill/>
        </p:spPr>
        <p:txBody>
          <a:bodyPr wrap="square">
            <a:spAutoFit/>
          </a:bodyPr>
          <a:lstStyle/>
          <a:p>
            <a:pPr algn="l"/>
            <a:r>
              <a:rPr sz="1300" b="1" i="0">
                <a:solidFill>
                  <a:srgbClr val="FFFFFF"/>
                </a:solidFill>
              </a:rPr>
              <a:t>"How many customers do we have?"</a:t>
            </a:r>
          </a:p>
        </p:txBody>
      </p:sp>
      <p:sp>
        <p:nvSpPr>
          <p:cNvPr id="17" name="Rectangle 16"/>
          <p:cNvSpPr/>
          <p:nvPr/>
        </p:nvSpPr>
        <p:spPr>
          <a:xfrm>
            <a:off x="6309360" y="2679192"/>
            <a:ext cx="5577840" cy="868680"/>
          </a:xfrm>
          <a:prstGeom prst="rect">
            <a:avLst/>
          </a:prstGeom>
          <a:solidFill>
            <a:srgbClr val="0D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60" y="2679192"/>
            <a:ext cx="73152" cy="868680"/>
          </a:xfrm>
          <a:prstGeom prst="rect">
            <a:avLst/>
          </a:prstGeom>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2734056"/>
            <a:ext cx="2011680" cy="274320"/>
          </a:xfrm>
          <a:prstGeom prst="rect">
            <a:avLst/>
          </a:prstGeom>
          <a:noFill/>
        </p:spPr>
        <p:txBody>
          <a:bodyPr wrap="square">
            <a:spAutoFit/>
          </a:bodyPr>
          <a:lstStyle/>
          <a:p>
            <a:pPr algn="l"/>
            <a:r>
              <a:rPr sz="900" b="1" i="0">
                <a:solidFill>
                  <a:srgbClr val="22C55E"/>
                </a:solidFill>
              </a:rPr>
              <a:t>AGGREGATE</a:t>
            </a:r>
          </a:p>
        </p:txBody>
      </p:sp>
      <p:sp>
        <p:nvSpPr>
          <p:cNvPr id="20" name="TextBox 19"/>
          <p:cNvSpPr txBox="1"/>
          <p:nvPr/>
        </p:nvSpPr>
        <p:spPr>
          <a:xfrm>
            <a:off x="6492240" y="3118104"/>
            <a:ext cx="5212080" cy="365760"/>
          </a:xfrm>
          <a:prstGeom prst="rect">
            <a:avLst/>
          </a:prstGeom>
          <a:noFill/>
        </p:spPr>
        <p:txBody>
          <a:bodyPr wrap="square">
            <a:spAutoFit/>
          </a:bodyPr>
          <a:lstStyle/>
          <a:p>
            <a:pPr algn="l"/>
            <a:r>
              <a:rPr sz="1300" b="1" i="0">
                <a:solidFill>
                  <a:srgbClr val="FFFFFF"/>
                </a:solidFill>
              </a:rPr>
              <a:t>"What is the total revenue from delivered orders?"</a:t>
            </a:r>
          </a:p>
        </p:txBody>
      </p:sp>
      <p:sp>
        <p:nvSpPr>
          <p:cNvPr id="21" name="Rectangle 20"/>
          <p:cNvSpPr/>
          <p:nvPr/>
        </p:nvSpPr>
        <p:spPr>
          <a:xfrm>
            <a:off x="365760" y="3666744"/>
            <a:ext cx="5577840" cy="868680"/>
          </a:xfrm>
          <a:prstGeom prst="rect">
            <a:avLst/>
          </a:prstGeom>
          <a:solidFill>
            <a:srgbClr val="0D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3666744"/>
            <a:ext cx="73152" cy="868680"/>
          </a:xfrm>
          <a:prstGeom prst="rect">
            <a:avLst/>
          </a:prstGeom>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3721607"/>
            <a:ext cx="2011680" cy="274320"/>
          </a:xfrm>
          <a:prstGeom prst="rect">
            <a:avLst/>
          </a:prstGeom>
          <a:noFill/>
        </p:spPr>
        <p:txBody>
          <a:bodyPr wrap="square">
            <a:spAutoFit/>
          </a:bodyPr>
          <a:lstStyle/>
          <a:p>
            <a:pPr algn="l"/>
            <a:r>
              <a:rPr sz="900" b="1" i="0">
                <a:solidFill>
                  <a:srgbClr val="22C55E"/>
                </a:solidFill>
              </a:rPr>
              <a:t>AGGREGATE</a:t>
            </a:r>
          </a:p>
        </p:txBody>
      </p:sp>
      <p:sp>
        <p:nvSpPr>
          <p:cNvPr id="24" name="TextBox 23"/>
          <p:cNvSpPr txBox="1"/>
          <p:nvPr/>
        </p:nvSpPr>
        <p:spPr>
          <a:xfrm>
            <a:off x="548640" y="4105656"/>
            <a:ext cx="5212080" cy="365760"/>
          </a:xfrm>
          <a:prstGeom prst="rect">
            <a:avLst/>
          </a:prstGeom>
          <a:noFill/>
        </p:spPr>
        <p:txBody>
          <a:bodyPr wrap="square">
            <a:spAutoFit/>
          </a:bodyPr>
          <a:lstStyle/>
          <a:p>
            <a:pPr algn="l"/>
            <a:r>
              <a:rPr sz="1300" b="1" i="0">
                <a:solidFill>
                  <a:srgbClr val="FFFFFF"/>
                </a:solidFill>
              </a:rPr>
              <a:t>"How many orders are there per status?"</a:t>
            </a:r>
          </a:p>
        </p:txBody>
      </p:sp>
      <p:sp>
        <p:nvSpPr>
          <p:cNvPr id="25" name="Rectangle 24"/>
          <p:cNvSpPr/>
          <p:nvPr/>
        </p:nvSpPr>
        <p:spPr>
          <a:xfrm>
            <a:off x="6309360" y="3666744"/>
            <a:ext cx="5577840" cy="868680"/>
          </a:xfrm>
          <a:prstGeom prst="rect">
            <a:avLst/>
          </a:prstGeom>
          <a:solidFill>
            <a:srgbClr val="0D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309360" y="3666744"/>
            <a:ext cx="73152" cy="868680"/>
          </a:xfrm>
          <a:prstGeom prst="rect">
            <a:avLst/>
          </a:prstGeom>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0" y="3721607"/>
            <a:ext cx="2011680" cy="274320"/>
          </a:xfrm>
          <a:prstGeom prst="rect">
            <a:avLst/>
          </a:prstGeom>
          <a:noFill/>
        </p:spPr>
        <p:txBody>
          <a:bodyPr wrap="square">
            <a:spAutoFit/>
          </a:bodyPr>
          <a:lstStyle/>
          <a:p>
            <a:pPr algn="l"/>
            <a:r>
              <a:rPr sz="900" b="1" i="0">
                <a:solidFill>
                  <a:srgbClr val="8B5CF6"/>
                </a:solidFill>
              </a:rPr>
              <a:t>JOIN</a:t>
            </a:r>
          </a:p>
        </p:txBody>
      </p:sp>
      <p:sp>
        <p:nvSpPr>
          <p:cNvPr id="28" name="TextBox 27"/>
          <p:cNvSpPr txBox="1"/>
          <p:nvPr/>
        </p:nvSpPr>
        <p:spPr>
          <a:xfrm>
            <a:off x="6492240" y="4105656"/>
            <a:ext cx="5212080" cy="365760"/>
          </a:xfrm>
          <a:prstGeom prst="rect">
            <a:avLst/>
          </a:prstGeom>
          <a:noFill/>
        </p:spPr>
        <p:txBody>
          <a:bodyPr wrap="square">
            <a:spAutoFit/>
          </a:bodyPr>
          <a:lstStyle/>
          <a:p>
            <a:pPr algn="l"/>
            <a:r>
              <a:rPr sz="1300" b="1" i="0">
                <a:solidFill>
                  <a:srgbClr val="FFFFFF"/>
                </a:solidFill>
              </a:rPr>
              <a:t>"Show all orders with customer names"</a:t>
            </a:r>
          </a:p>
        </p:txBody>
      </p:sp>
      <p:sp>
        <p:nvSpPr>
          <p:cNvPr id="29" name="Rectangle 28"/>
          <p:cNvSpPr/>
          <p:nvPr/>
        </p:nvSpPr>
        <p:spPr>
          <a:xfrm>
            <a:off x="365760" y="4654296"/>
            <a:ext cx="5577840" cy="868680"/>
          </a:xfrm>
          <a:prstGeom prst="rect">
            <a:avLst/>
          </a:prstGeom>
          <a:solidFill>
            <a:srgbClr val="0D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5760" y="4654296"/>
            <a:ext cx="73152" cy="868680"/>
          </a:xfrm>
          <a:prstGeom prst="rect">
            <a:avLst/>
          </a:prstGeom>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4709159"/>
            <a:ext cx="2011680" cy="274320"/>
          </a:xfrm>
          <a:prstGeom prst="rect">
            <a:avLst/>
          </a:prstGeom>
          <a:noFill/>
        </p:spPr>
        <p:txBody>
          <a:bodyPr wrap="square">
            <a:spAutoFit/>
          </a:bodyPr>
          <a:lstStyle/>
          <a:p>
            <a:pPr algn="l"/>
            <a:r>
              <a:rPr sz="900" b="1" i="0">
                <a:solidFill>
                  <a:srgbClr val="8B5CF6"/>
                </a:solidFill>
              </a:rPr>
              <a:t>JOIN</a:t>
            </a:r>
          </a:p>
        </p:txBody>
      </p:sp>
      <p:sp>
        <p:nvSpPr>
          <p:cNvPr id="32" name="TextBox 31"/>
          <p:cNvSpPr txBox="1"/>
          <p:nvPr/>
        </p:nvSpPr>
        <p:spPr>
          <a:xfrm>
            <a:off x="548640" y="5093208"/>
            <a:ext cx="5212080" cy="365760"/>
          </a:xfrm>
          <a:prstGeom prst="rect">
            <a:avLst/>
          </a:prstGeom>
          <a:noFill/>
        </p:spPr>
        <p:txBody>
          <a:bodyPr wrap="square">
            <a:spAutoFit/>
          </a:bodyPr>
          <a:lstStyle/>
          <a:p>
            <a:pPr algn="l"/>
            <a:r>
              <a:rPr sz="1300" b="1" i="0">
                <a:solidFill>
                  <a:srgbClr val="FFFFFF"/>
                </a:solidFill>
              </a:rPr>
              <a:t>"List the top 5 customers by total amount spent"</a:t>
            </a:r>
          </a:p>
        </p:txBody>
      </p:sp>
      <p:sp>
        <p:nvSpPr>
          <p:cNvPr id="33" name="Rectangle 32"/>
          <p:cNvSpPr/>
          <p:nvPr/>
        </p:nvSpPr>
        <p:spPr>
          <a:xfrm>
            <a:off x="6309360" y="4654296"/>
            <a:ext cx="5577840" cy="868680"/>
          </a:xfrm>
          <a:prstGeom prst="rect">
            <a:avLst/>
          </a:prstGeom>
          <a:solidFill>
            <a:srgbClr val="0D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309360" y="4654296"/>
            <a:ext cx="73152" cy="868680"/>
          </a:xfrm>
          <a:prstGeom prst="rect">
            <a:avLst/>
          </a:prstGeom>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92240" y="4709159"/>
            <a:ext cx="2011680" cy="274320"/>
          </a:xfrm>
          <a:prstGeom prst="rect">
            <a:avLst/>
          </a:prstGeom>
          <a:noFill/>
        </p:spPr>
        <p:txBody>
          <a:bodyPr wrap="square">
            <a:spAutoFit/>
          </a:bodyPr>
          <a:lstStyle/>
          <a:p>
            <a:pPr algn="l"/>
            <a:r>
              <a:rPr sz="900" b="1" i="0">
                <a:solidFill>
                  <a:srgbClr val="8B5CF6"/>
                </a:solidFill>
              </a:rPr>
              <a:t>JOIN</a:t>
            </a:r>
          </a:p>
        </p:txBody>
      </p:sp>
      <p:sp>
        <p:nvSpPr>
          <p:cNvPr id="36" name="TextBox 35"/>
          <p:cNvSpPr txBox="1"/>
          <p:nvPr/>
        </p:nvSpPr>
        <p:spPr>
          <a:xfrm>
            <a:off x="6492240" y="5093208"/>
            <a:ext cx="5212080" cy="365760"/>
          </a:xfrm>
          <a:prstGeom prst="rect">
            <a:avLst/>
          </a:prstGeom>
          <a:noFill/>
        </p:spPr>
        <p:txBody>
          <a:bodyPr wrap="square">
            <a:spAutoFit/>
          </a:bodyPr>
          <a:lstStyle/>
          <a:p>
            <a:pPr algn="l"/>
            <a:r>
              <a:rPr sz="1300" b="1" i="0">
                <a:solidFill>
                  <a:srgbClr val="FFFFFF"/>
                </a:solidFill>
              </a:rPr>
              <a:t>"Which products have been ordered more than 10 times?"</a:t>
            </a:r>
          </a:p>
        </p:txBody>
      </p:sp>
      <p:sp>
        <p:nvSpPr>
          <p:cNvPr id="37" name="Rectangle 36"/>
          <p:cNvSpPr/>
          <p:nvPr/>
        </p:nvSpPr>
        <p:spPr>
          <a:xfrm>
            <a:off x="365760" y="5641848"/>
            <a:ext cx="5577840" cy="868680"/>
          </a:xfrm>
          <a:prstGeom prst="rect">
            <a:avLst/>
          </a:prstGeom>
          <a:solidFill>
            <a:srgbClr val="0D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65760" y="5641848"/>
            <a:ext cx="73152" cy="868680"/>
          </a:xfrm>
          <a:prstGeom prst="rect">
            <a:avLst/>
          </a:prstGeom>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5696712"/>
            <a:ext cx="2011680" cy="274320"/>
          </a:xfrm>
          <a:prstGeom prst="rect">
            <a:avLst/>
          </a:prstGeom>
          <a:noFill/>
        </p:spPr>
        <p:txBody>
          <a:bodyPr wrap="square">
            <a:spAutoFit/>
          </a:bodyPr>
          <a:lstStyle/>
          <a:p>
            <a:pPr algn="l"/>
            <a:r>
              <a:rPr sz="900" b="1" i="0">
                <a:solidFill>
                  <a:srgbClr val="F59E0B"/>
                </a:solidFill>
              </a:rPr>
              <a:t>TEMPORAL</a:t>
            </a:r>
          </a:p>
        </p:txBody>
      </p:sp>
      <p:sp>
        <p:nvSpPr>
          <p:cNvPr id="40" name="TextBox 39"/>
          <p:cNvSpPr txBox="1"/>
          <p:nvPr/>
        </p:nvSpPr>
        <p:spPr>
          <a:xfrm>
            <a:off x="548640" y="6080760"/>
            <a:ext cx="5212080" cy="365760"/>
          </a:xfrm>
          <a:prstGeom prst="rect">
            <a:avLst/>
          </a:prstGeom>
          <a:noFill/>
        </p:spPr>
        <p:txBody>
          <a:bodyPr wrap="square">
            <a:spAutoFit/>
          </a:bodyPr>
          <a:lstStyle/>
          <a:p>
            <a:pPr algn="l"/>
            <a:r>
              <a:rPr sz="1300" b="1" i="0">
                <a:solidFill>
                  <a:srgbClr val="FFFFFF"/>
                </a:solidFill>
              </a:rPr>
              <a:t>"Show orders placed in the last 30 days"</a:t>
            </a:r>
          </a:p>
        </p:txBody>
      </p:sp>
      <p:sp>
        <p:nvSpPr>
          <p:cNvPr id="41" name="Rectangle 40"/>
          <p:cNvSpPr/>
          <p:nvPr/>
        </p:nvSpPr>
        <p:spPr>
          <a:xfrm>
            <a:off x="6309360" y="5641848"/>
            <a:ext cx="5577840" cy="868680"/>
          </a:xfrm>
          <a:prstGeom prst="rect">
            <a:avLst/>
          </a:prstGeom>
          <a:solidFill>
            <a:srgbClr val="0D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309360" y="5641848"/>
            <a:ext cx="73152" cy="868680"/>
          </a:xfrm>
          <a:prstGeom prst="rect">
            <a:avLst/>
          </a:prstGeom>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92240" y="5696712"/>
            <a:ext cx="2011680" cy="274320"/>
          </a:xfrm>
          <a:prstGeom prst="rect">
            <a:avLst/>
          </a:prstGeom>
          <a:noFill/>
        </p:spPr>
        <p:txBody>
          <a:bodyPr wrap="square">
            <a:spAutoFit/>
          </a:bodyPr>
          <a:lstStyle/>
          <a:p>
            <a:pPr algn="l"/>
            <a:r>
              <a:rPr sz="900" b="1" i="0">
                <a:solidFill>
                  <a:srgbClr val="F59E0B"/>
                </a:solidFill>
              </a:rPr>
              <a:t>TEMPORAL</a:t>
            </a:r>
          </a:p>
        </p:txBody>
      </p:sp>
      <p:sp>
        <p:nvSpPr>
          <p:cNvPr id="44" name="TextBox 43"/>
          <p:cNvSpPr txBox="1"/>
          <p:nvPr/>
        </p:nvSpPr>
        <p:spPr>
          <a:xfrm>
            <a:off x="6492240" y="6080760"/>
            <a:ext cx="5212080" cy="365760"/>
          </a:xfrm>
          <a:prstGeom prst="rect">
            <a:avLst/>
          </a:prstGeom>
          <a:noFill/>
        </p:spPr>
        <p:txBody>
          <a:bodyPr wrap="square">
            <a:spAutoFit/>
          </a:bodyPr>
          <a:lstStyle/>
          <a:p>
            <a:pPr algn="l"/>
            <a:r>
              <a:rPr sz="1300" b="1" i="0">
                <a:solidFill>
                  <a:srgbClr val="FFFFFF"/>
                </a:solidFill>
              </a:rPr>
              <a:t>"Show monthly order counts for this year"</a:t>
            </a:r>
          </a:p>
        </p:txBody>
      </p:sp>
      <p:sp>
        <p:nvSpPr>
          <p:cNvPr id="45" name="Rectangle 44"/>
          <p:cNvSpPr/>
          <p:nvPr/>
        </p:nvSpPr>
        <p:spPr>
          <a:xfrm>
            <a:off x="365760" y="6446520"/>
            <a:ext cx="11430000" cy="347472"/>
          </a:xfrm>
          <a:prstGeom prst="rect">
            <a:avLst/>
          </a:prstGeom>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48640" y="6483096"/>
            <a:ext cx="11064240" cy="274320"/>
          </a:xfrm>
          <a:prstGeom prst="rect">
            <a:avLst/>
          </a:prstGeom>
          <a:noFill/>
        </p:spPr>
        <p:txBody>
          <a:bodyPr wrap="square">
            <a:spAutoFit/>
          </a:bodyPr>
          <a:lstStyle/>
          <a:p>
            <a:pPr algn="l"/>
            <a:r>
              <a:rPr sz="1000" b="1" i="0">
                <a:solidFill>
                  <a:srgbClr val="EF4444"/>
                </a:solidFill>
              </a:rPr>
              <a:t>Guardrail test — also try:  "Delete all customers"  →  blocked  |  Turn off allow_select in Admin → all queries blocked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457200"/>
          </a:xfrm>
          <a:prstGeom prst="rect">
            <a:avLst/>
          </a:prstGeom>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0"/>
            <a:ext cx="12188952" cy="457200"/>
          </a:xfrm>
          <a:prstGeom prst="rect">
            <a:avLst/>
          </a:prstGeom>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548640"/>
            <a:ext cx="10058400" cy="685800"/>
          </a:xfrm>
          <a:prstGeom prst="rect">
            <a:avLst/>
          </a:prstGeom>
          <a:noFill/>
        </p:spPr>
        <p:txBody>
          <a:bodyPr wrap="square">
            <a:spAutoFit/>
          </a:bodyPr>
          <a:lstStyle/>
          <a:p>
            <a:pPr algn="ctr"/>
            <a:r>
              <a:rPr sz="3000" b="1" i="0">
                <a:solidFill>
                  <a:srgbClr val="FFFFFF"/>
                </a:solidFill>
              </a:rPr>
              <a:t>QueryMind AI — Summary</a:t>
            </a:r>
          </a:p>
        </p:txBody>
      </p:sp>
      <p:sp>
        <p:nvSpPr>
          <p:cNvPr id="5" name="TextBox 4"/>
          <p:cNvSpPr txBox="1"/>
          <p:nvPr/>
        </p:nvSpPr>
        <p:spPr>
          <a:xfrm>
            <a:off x="1371600" y="1371600"/>
            <a:ext cx="9418320" cy="3840480"/>
          </a:xfrm>
          <a:prstGeom prst="rect">
            <a:avLst/>
          </a:prstGeom>
          <a:noFill/>
        </p:spPr>
        <p:txBody>
          <a:bodyPr wrap="square">
            <a:spAutoFit/>
          </a:bodyPr>
          <a:lstStyle/>
          <a:p>
            <a:pPr>
              <a:spcBef>
                <a:spcPts val="800"/>
              </a:spcBef>
            </a:pPr>
            <a:r>
              <a:rPr sz="1500">
                <a:solidFill>
                  <a:srgbClr val="FFFFFF"/>
                </a:solidFill>
              </a:rPr>
              <a:t>✅  7-stage modular NL→SQL pipeline with self-healing SQL</a:t>
            </a:r>
          </a:p>
          <a:p>
            <a:pPr>
              <a:spcBef>
                <a:spcPts val="800"/>
              </a:spcBef>
            </a:pPr>
            <a:r>
              <a:rPr sz="1500">
                <a:solidFill>
                  <a:srgbClr val="FFFFFF"/>
                </a:solidFill>
              </a:rPr>
              <a:t>✅  Qdrant vector RAG — 30 curated few-shot examples across 4 query types</a:t>
            </a:r>
          </a:p>
          <a:p>
            <a:pPr>
              <a:spcBef>
                <a:spcPts val="800"/>
              </a:spcBef>
            </a:pPr>
            <a:r>
              <a:rPr sz="1500">
                <a:solidFill>
                  <a:srgbClr val="FFFFFF"/>
                </a:solidFill>
              </a:rPr>
              <a:t>✅  Runtime guardrails — configurable without code changes or server restart</a:t>
            </a:r>
          </a:p>
          <a:p>
            <a:pPr>
              <a:spcBef>
                <a:spcPts val="800"/>
              </a:spcBef>
            </a:pPr>
            <a:r>
              <a:rPr sz="1500">
                <a:solidFill>
                  <a:srgbClr val="FFFFFF"/>
                </a:solidFill>
              </a:rPr>
              <a:t>✅  Full audit logging — every query tracked with SQL, latency, and status</a:t>
            </a:r>
          </a:p>
          <a:p>
            <a:pPr>
              <a:spcBef>
                <a:spcPts val="800"/>
              </a:spcBef>
            </a:pPr>
            <a:r>
              <a:rPr sz="1500">
                <a:solidFill>
                  <a:srgbClr val="FFFFFF"/>
                </a:solidFill>
              </a:rPr>
              <a:t>✅  React admin panel — 5 management screens (Schema, Examples, Logs, Guardrails, Config)</a:t>
            </a:r>
          </a:p>
          <a:p>
            <a:pPr>
              <a:spcBef>
                <a:spcPts val="800"/>
              </a:spcBef>
            </a:pPr>
            <a:r>
              <a:rPr sz="1500">
                <a:solidFill>
                  <a:srgbClr val="FFFFFF"/>
                </a:solidFill>
              </a:rPr>
              <a:t>✅  Evaluation harness — 100% execution accuracy on 25 ground-truth queries</a:t>
            </a:r>
          </a:p>
          <a:p>
            <a:pPr>
              <a:spcBef>
                <a:spcPts val="800"/>
              </a:spcBef>
            </a:pPr>
            <a:r>
              <a:rPr sz="1500">
                <a:solidFill>
                  <a:srgbClr val="FFFFFF"/>
                </a:solidFill>
              </a:rPr>
              <a:t>✅  Docling document ingestion — schema docs indexed to Qdrant for richer LLM context</a:t>
            </a:r>
          </a:p>
        </p:txBody>
      </p:sp>
      <p:sp>
        <p:nvSpPr>
          <p:cNvPr id="6" name="Rectangle 5"/>
          <p:cNvSpPr/>
          <p:nvPr/>
        </p:nvSpPr>
        <p:spPr>
          <a:xfrm>
            <a:off x="457200" y="5349240"/>
            <a:ext cx="11274552" cy="18288"/>
          </a:xfrm>
          <a:prstGeom prst="rect">
            <a:avLst/>
          </a:prstGeom>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504688"/>
            <a:ext cx="2468880" cy="320040"/>
          </a:xfrm>
          <a:prstGeom prst="rect">
            <a:avLst/>
          </a:prstGeom>
          <a:noFill/>
        </p:spPr>
        <p:txBody>
          <a:bodyPr wrap="square">
            <a:spAutoFit/>
          </a:bodyPr>
          <a:lstStyle/>
          <a:p>
            <a:pPr algn="ctr"/>
            <a:r>
              <a:rPr sz="1200" b="1" i="0">
                <a:solidFill>
                  <a:srgbClr val="94A3B8"/>
                </a:solidFill>
              </a:rPr>
              <a:t>GitHub</a:t>
            </a:r>
          </a:p>
        </p:txBody>
      </p:sp>
      <p:sp>
        <p:nvSpPr>
          <p:cNvPr id="8" name="TextBox 7"/>
          <p:cNvSpPr txBox="1"/>
          <p:nvPr/>
        </p:nvSpPr>
        <p:spPr>
          <a:xfrm>
            <a:off x="731520" y="5852160"/>
            <a:ext cx="2468880" cy="365760"/>
          </a:xfrm>
          <a:prstGeom prst="rect">
            <a:avLst/>
          </a:prstGeom>
          <a:noFill/>
        </p:spPr>
        <p:txBody>
          <a:bodyPr wrap="square">
            <a:spAutoFit/>
          </a:bodyPr>
          <a:lstStyle/>
          <a:p>
            <a:pPr algn="ctr"/>
            <a:r>
              <a:rPr sz="1200" b="0" i="0">
                <a:solidFill>
                  <a:srgbClr val="0EA5E9"/>
                </a:solidFill>
              </a:rPr>
              <a:t>github.com/vijaymamilla/querymind</a:t>
            </a:r>
          </a:p>
        </p:txBody>
      </p:sp>
      <p:sp>
        <p:nvSpPr>
          <p:cNvPr id="9" name="TextBox 8"/>
          <p:cNvSpPr txBox="1"/>
          <p:nvPr/>
        </p:nvSpPr>
        <p:spPr>
          <a:xfrm>
            <a:off x="3474720" y="5504688"/>
            <a:ext cx="2468880" cy="320040"/>
          </a:xfrm>
          <a:prstGeom prst="rect">
            <a:avLst/>
          </a:prstGeom>
          <a:noFill/>
        </p:spPr>
        <p:txBody>
          <a:bodyPr wrap="square">
            <a:spAutoFit/>
          </a:bodyPr>
          <a:lstStyle/>
          <a:p>
            <a:pPr algn="ctr"/>
            <a:r>
              <a:rPr sz="1200" b="1" i="0">
                <a:solidFill>
                  <a:srgbClr val="94A3B8"/>
                </a:solidFill>
              </a:rPr>
              <a:t>Demo Video</a:t>
            </a:r>
          </a:p>
        </p:txBody>
      </p:sp>
      <p:sp>
        <p:nvSpPr>
          <p:cNvPr id="10" name="TextBox 9"/>
          <p:cNvSpPr txBox="1"/>
          <p:nvPr/>
        </p:nvSpPr>
        <p:spPr>
          <a:xfrm>
            <a:off x="3474720" y="5852160"/>
            <a:ext cx="2468880" cy="365760"/>
          </a:xfrm>
          <a:prstGeom prst="rect">
            <a:avLst/>
          </a:prstGeom>
          <a:noFill/>
        </p:spPr>
        <p:txBody>
          <a:bodyPr wrap="square">
            <a:spAutoFit/>
          </a:bodyPr>
          <a:lstStyle/>
          <a:p>
            <a:pPr algn="ctr"/>
            <a:r>
              <a:rPr sz="1200" b="0" i="0">
                <a:solidFill>
                  <a:srgbClr val="0EA5E9"/>
                </a:solidFill>
              </a:rPr>
              <a:t>youtu.be/L4pgpwKwABo</a:t>
            </a:r>
          </a:p>
        </p:txBody>
      </p:sp>
      <p:sp>
        <p:nvSpPr>
          <p:cNvPr id="11" name="TextBox 10"/>
          <p:cNvSpPr txBox="1"/>
          <p:nvPr/>
        </p:nvSpPr>
        <p:spPr>
          <a:xfrm>
            <a:off x="6217920" y="5504688"/>
            <a:ext cx="2468880" cy="320040"/>
          </a:xfrm>
          <a:prstGeom prst="rect">
            <a:avLst/>
          </a:prstGeom>
          <a:noFill/>
        </p:spPr>
        <p:txBody>
          <a:bodyPr wrap="square">
            <a:spAutoFit/>
          </a:bodyPr>
          <a:lstStyle/>
          <a:p>
            <a:pPr algn="ctr"/>
            <a:r>
              <a:rPr sz="1200" b="1" i="0">
                <a:solidFill>
                  <a:srgbClr val="94A3B8"/>
                </a:solidFill>
              </a:rPr>
              <a:t>Backend API</a:t>
            </a:r>
          </a:p>
        </p:txBody>
      </p:sp>
      <p:sp>
        <p:nvSpPr>
          <p:cNvPr id="12" name="TextBox 11"/>
          <p:cNvSpPr txBox="1"/>
          <p:nvPr/>
        </p:nvSpPr>
        <p:spPr>
          <a:xfrm>
            <a:off x="6217920" y="5852160"/>
            <a:ext cx="2468880" cy="365760"/>
          </a:xfrm>
          <a:prstGeom prst="rect">
            <a:avLst/>
          </a:prstGeom>
          <a:noFill/>
        </p:spPr>
        <p:txBody>
          <a:bodyPr wrap="square">
            <a:spAutoFit/>
          </a:bodyPr>
          <a:lstStyle/>
          <a:p>
            <a:pPr algn="ctr"/>
            <a:r>
              <a:rPr sz="1200" b="0" i="0">
                <a:solidFill>
                  <a:srgbClr val="0EA5E9"/>
                </a:solidFill>
              </a:rPr>
              <a:t>localhost:8000/docs</a:t>
            </a:r>
          </a:p>
        </p:txBody>
      </p:sp>
      <p:sp>
        <p:nvSpPr>
          <p:cNvPr id="13" name="TextBox 12"/>
          <p:cNvSpPr txBox="1"/>
          <p:nvPr/>
        </p:nvSpPr>
        <p:spPr>
          <a:xfrm>
            <a:off x="8961120" y="5504688"/>
            <a:ext cx="2468880" cy="320040"/>
          </a:xfrm>
          <a:prstGeom prst="rect">
            <a:avLst/>
          </a:prstGeom>
          <a:noFill/>
        </p:spPr>
        <p:txBody>
          <a:bodyPr wrap="square">
            <a:spAutoFit/>
          </a:bodyPr>
          <a:lstStyle/>
          <a:p>
            <a:pPr algn="ctr"/>
            <a:r>
              <a:rPr sz="1200" b="1" i="0">
                <a:solidFill>
                  <a:srgbClr val="94A3B8"/>
                </a:solidFill>
              </a:rPr>
              <a:t>Admin UI</a:t>
            </a:r>
          </a:p>
        </p:txBody>
      </p:sp>
      <p:sp>
        <p:nvSpPr>
          <p:cNvPr id="14" name="TextBox 13"/>
          <p:cNvSpPr txBox="1"/>
          <p:nvPr/>
        </p:nvSpPr>
        <p:spPr>
          <a:xfrm>
            <a:off x="8961120" y="5852160"/>
            <a:ext cx="2468880" cy="365760"/>
          </a:xfrm>
          <a:prstGeom prst="rect">
            <a:avLst/>
          </a:prstGeom>
          <a:noFill/>
        </p:spPr>
        <p:txBody>
          <a:bodyPr wrap="square">
            <a:spAutoFit/>
          </a:bodyPr>
          <a:lstStyle/>
          <a:p>
            <a:pPr algn="ctr"/>
            <a:r>
              <a:rPr sz="1200" b="0" i="0">
                <a:solidFill>
                  <a:srgbClr val="0EA5E9"/>
                </a:solidFill>
              </a:rPr>
              <a:t>localhost:3000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